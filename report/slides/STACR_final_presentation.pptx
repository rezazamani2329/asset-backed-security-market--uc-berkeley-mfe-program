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C77E93-19F6-4675-AD0D-53BB172675F8}">
  <a:tblStyle styleId="{25C77E93-19F6-4675-AD0D-53BB172675F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[Reza Zamani · about 30 seconds]</a:t>
            </a:r>
            <a:br>
              <a:rPr lang="en-US"/>
            </a:br>
            <a:br>
              <a:rPr lang="en-US"/>
            </a:br>
            <a:r>
              <a:rPr lang="en-US"/>
              <a:t>Good afternoon. Our project prices Freddie Mac's STACR 2026-DNA1, a credit risk transfer deal that closed in February 2026. We act as consultants to investors looking at the three offered classes: A-1, M-1 and M-2, which trades as M-2A and M-2B.</a:t>
            </a:r>
            <a:br>
              <a:rPr lang="en-US"/>
            </a:br>
            <a:br>
              <a:rPr lang="en-US"/>
            </a:br>
            <a:r>
              <a:rPr lang="en-US"/>
              <a:t>Five of us built it, and each of us will present our own part. Everything we show today runs from the September 2026 loan tape and is reproducible from our public repository.</a:t>
            </a:r>
            <a:endParaRPr/>
          </a:p>
        </p:txBody>
      </p:sp>
      <p:sp>
        <p:nvSpPr>
          <p:cNvPr id="23" name="Google Shape;2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[Reza Zamani · about 1 minute]</a:t>
            </a:r>
            <a:br>
              <a:rPr lang="en-US"/>
            </a:br>
            <a:br>
              <a:rPr lang="en-US"/>
            </a:br>
            <a:r>
              <a:rPr lang="en-US"/>
              <a:t>Here is the plan. The parts follow our code pipeline. Al explains the deal and its rules. Haocheng cleans the loan tape. Coco builds the economic scenarios. I project the loans month by month under those scenarios. Smarajit runs the projected cash flows through the deal's waterfall and prices the notes. Then Haocheng comes back to check our results against Bloomberg, and Coco closes with our verdicts and recommendations. Each person keeps one part number, so Haocheng's two sections are both Part 2 and Coco's are both Part 3.</a:t>
            </a:r>
            <a:br>
              <a:rPr lang="en-US"/>
            </a:br>
            <a:br>
              <a:rPr lang="en-US"/>
            </a:br>
            <a:r>
              <a:rPr lang="en-US"/>
              <a:t>On the right are the six questions we set out to answer, from how the deal protects investors to who should own each class. We'll come back to each one at the end.</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 Yazid Bensaid · about 1.25 minutes]</a:t>
            </a:r>
            <a:br>
              <a:rPr lang="en-US"/>
            </a:br>
            <a:br>
              <a:rPr lang="en-US"/>
            </a:br>
            <a:r>
              <a:rPr lang="en-US"/>
              <a:t>The first thing to understand is that investors do not buy mortgages. They buy notes issued by the Freddie Mac STACR REMIC Trust, a Delaware statutory trust.</a:t>
            </a:r>
            <a:br>
              <a:rPr lang="en-US"/>
            </a:br>
            <a:br>
              <a:rPr lang="en-US"/>
            </a:br>
            <a:r>
              <a:rPr lang="en-US"/>
              <a:t>At closing, investors paid $627.5 million to the trust. The trust put that money into short-term government assets, managed by BlackRock and held by BNY Mellon. The trust then sells credit protection to Freddie Mac on a reference pool of $22.78 billion of Freddie Mac loans.</a:t>
            </a:r>
            <a:br>
              <a:rPr lang="en-US"/>
            </a:br>
            <a:br>
              <a:rPr lang="en-US"/>
            </a:br>
            <a:r>
              <a:rPr lang="en-US"/>
              <a:t>Each month, two things flow. Freddie Mac pays the spread over SOFR, called the Transfer Amount, and the SOFR part comes from earnings on the trust's investments. If loans in the pool have losses big enough to reach a note, the note is written down and the trust pays that amount back to Freddie Mac as the Return Amount.</a:t>
            </a:r>
            <a:br>
              <a:rPr lang="en-US"/>
            </a:br>
            <a:br>
              <a:rPr lang="en-US"/>
            </a:br>
            <a:r>
              <a:rPr lang="en-US"/>
              <a:t>So investors take two risks. The main one is credit risk on the reference pool, which drives almost all of the pricing. The second is counterparty risk on Freddie Mac, which has been in conservatorship since 2008, for the monthly spread. The principal itself sits in a bankruptcy-remote trust, and a Freddie Mac failure would most likely end the deal early rather than wipe out principal.</a:t>
            </a:r>
            <a:br>
              <a:rPr lang="en-US"/>
            </a:br>
            <a:br>
              <a:rPr lang="en-US"/>
            </a:br>
            <a:r>
              <a:rPr lang="en-US"/>
              <a:t>Key terms on the right: closing February 17, 2026; Freddie Mac can call the deal from February 2031 or when the pool falls to 10 percent of its cut-off balance; legal maturity is February 2046; and the notes pay 30-day average SOFR plus a spread.</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 Yazid Bensaid · about 1 minute]</a:t>
            </a:r>
            <a:br>
              <a:rPr lang="en-US"/>
            </a:br>
            <a:br>
              <a:rPr lang="en-US"/>
            </a:br>
            <a:r>
              <a:rPr lang="en-US"/>
              <a:t>This is the full reference tranche stack. It sums exactly to the $22.78 billion cut-off balance, and each tranche's attach and detach points are its position in that stack as a percent of cut-off.</a:t>
            </a:r>
            <a:br>
              <a:rPr lang="en-US"/>
            </a:br>
            <a:br>
              <a:rPr lang="en-US"/>
            </a:br>
            <a:r>
              <a:rPr lang="en-US"/>
              <a:t>The offered notes are in blue. M-2B attaches at 1.90 percent, so the pool has to lose 1.90 percent of its original balance before any investor loses a dollar. M-2A covers 2.075 to 2.25, M-1 2.25 to 3.525, and A-1 3.525 to 4.80. Ratings follow that order: A-1 is A-plus at S&amp;P, the M classes are BBB-plus. Spreads go from SOFR plus 85 basis points on A-1 to SOFR plus 130 on M-2.</a:t>
            </a:r>
            <a:br>
              <a:rPr lang="en-US"/>
            </a:br>
            <a:br>
              <a:rPr lang="en-US"/>
            </a:br>
            <a:r>
              <a:rPr lang="en-US"/>
              <a:t>Freddie Mac keeps everything else: the senior A-H piece, the three B tranches that absorb the first 1.90 percent of losses, and an "H" twin of about 5 percent in each offered band, which is its risk retention. Each twin shares losses and principal with its note pro rata.</a:t>
            </a:r>
            <a:br>
              <a:rPr lang="en-US"/>
            </a:br>
            <a:br>
              <a:rPr lang="en-US"/>
            </a:br>
            <a:r>
              <a:rPr lang="en-US"/>
              <a:t>On the right are today's balances after the September 2026 payment, which is where our waterfall starts. A-1 has paid down to a factor of about 0.74 on its fixed schedule, M-1 to about 0.57 because it gets all the subordinate principal first, and M-2A and M-2B haven't paid any principal yet. Haocheng checked these factors against Bloomberg, and together with Freddie Mac's pieces they add up to the $19.25 billion pool after the September payment.</a:t>
            </a:r>
            <a:endParaRPr/>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 Yazid Bensaid · about 1.25 minutes]</a:t>
            </a:r>
            <a:br>
              <a:rPr lang="en-US"/>
            </a:br>
            <a:br>
              <a:rPr lang="en-US"/>
            </a:br>
            <a:r>
              <a:rPr lang="en-US"/>
              <a:t>These are the rules the waterfall has to implement.</a:t>
            </a:r>
            <a:br>
              <a:rPr lang="en-US"/>
            </a:br>
            <a:br>
              <a:rPr lang="en-US"/>
            </a:br>
            <a:r>
              <a:rPr lang="en-US"/>
              <a:t>Losses. STACR is an actual-loss deal. When a loan has a credit event, such as a short sale, foreclosure sale or REO sale, the loss is the balance plus missed interest plus prior forgiveness, minus net liquidation proceeds including mortgage insurance. Losses are written down from the bottom: B-3H, B-2H, B-1H, then M-2B, M-2A, M-1 and finally A-1. Modification losses, when a loan's rate is cut, reduce a class's interest first and then its principal. Recoveries write classes back up from the top.</a:t>
            </a:r>
            <a:br>
              <a:rPr lang="en-US"/>
            </a:br>
            <a:br>
              <a:rPr lang="en-US"/>
            </a:br>
            <a:r>
              <a:rPr lang="en-US"/>
              <a:t>Principal. Each month principal from the pool is split into a senior bucket and a subordinate bucket. The senior share was 96.475 percent at closing. Inside the senior bucket, A-1 has a fixed fast-pay schedule: 3.75 percent of its band per month for the first year, then 1.5 percent per month to month 36. The subordinate bucket pays the mezzanine notes sequentially: M-1 first, then M-2A, then M-2B.</a:t>
            </a:r>
            <a:br>
              <a:rPr lang="en-US"/>
            </a:br>
            <a:br>
              <a:rPr lang="en-US"/>
            </a:br>
            <a:r>
              <a:rPr lang="en-US"/>
              <a:t>Triggers. All three tests must pass for the mezzanine notes to get principal. The minimum credit enhancement test needs the subordinate share to stay at 3.525 percent or more, and it passes with zero cushion at closing, so any loss that hits the B tranches flips all principal to the senior classes. The cumulative net loss test has a schedule starting at 0.10 percent in year 1. The delinquency test compares distressed loans with half of the subordinate cushion. And A-1 permanently loses its fast-pay schedule if cumulative losses ever pass 1 percent.</a:t>
            </a:r>
            <a:endParaRPr/>
          </a:p>
        </p:txBody>
      </p:sp>
      <p:sp>
        <p:nvSpPr>
          <p:cNvPr id="94" name="Google Shape;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[Haocheng Sun · about 1.5 minutes]</a:t>
            </a:r>
            <a:br>
              <a:rPr lang="en-US"/>
            </a:br>
            <a:br>
              <a:rPr lang="en-US"/>
            </a:br>
            <a:r>
              <a:rPr lang="en-US"/>
              <a:t>My first job was the data. The deal discloses the reference pool loan by loan every month. We start from the tape after the September 2026 payment: 56,433 loans and $19.25 billion, down from 64,434 loans and $22.78 billion at cut-off. We use Freddie Mac's disclosure converted to the Bloomberg layout, and it matches Bloomberg's own pool screen.</a:t>
            </a:r>
            <a:br>
              <a:rPr lang="en-US"/>
            </a:br>
            <a:br>
              <a:rPr lang="en-US"/>
            </a:br>
            <a:r>
              <a:rPr lang="en-US"/>
              <a:t>The pool is strong credit. Weighted-average FICO is 759, the current LTV is about 70, and DTI is 38.5. Every loan had an original LTV between 61 and 80, so none has mortgage insurance. The average coupon is 6.76 percent against a 7.28 percent market rate, so borrowers have no reason to refinance today. And 0.79 percent of the balance is already 30 or more days late.</a:t>
            </a:r>
            <a:br>
              <a:rPr lang="en-US"/>
            </a:br>
            <a:br>
              <a:rPr lang="en-US"/>
            </a:br>
            <a:r>
              <a:rPr lang="en-US"/>
              <a:t>The cleaning has four steps: load the newest tape, standardize the fields and compute balance-weighted statistics, set the September factor for every note class and check it against Bloomberg, and hand the loans to Reza's model. Loans already 60 or more days late, about $52 million, go straight into the liquidation pipeline. That detail comes back in Smarajit's part.</a:t>
            </a: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[Coco Ma · about 1.25 minutes]</a:t>
            </a:r>
            <a:br>
              <a:rPr lang="en-US"/>
            </a:br>
            <a:br>
              <a:rPr lang="en-US"/>
            </a:br>
            <a:r>
              <a:rPr lang="en-US"/>
              <a:t>Our scenario model produces joint paths for mortgage rates, SOFR and house prices, month by month from today to the February 2031 call, which is 53 steps.</a:t>
            </a:r>
            <a:br>
              <a:rPr lang="en-US"/>
            </a:br>
            <a:br>
              <a:rPr lang="en-US"/>
            </a:br>
            <a:r>
              <a:rPr lang="en-US"/>
              <a:t>It uses two methods. For the good and base cases, it fits a first-order autoregressive model to five factors: the short rate, the 2-year and 10-year Treasury yields, the mortgage spread over the 10-year, and monthly house-price growth. It is calibrated on 319 months of FRED data from 2000 to mid-2026. It then simulates 20,000 paths by bootstrapping the model's residuals in 6-month blocks, taking all five factors from the same historical months so their co-movement is preserved. The paths are ranked by their house-price outcome: the good scenario is the average of paths between the 75th and 85th percentiles, and the base is the average around the median.</a:t>
            </a:r>
            <a:br>
              <a:rPr lang="en-US"/>
            </a:br>
            <a:br>
              <a:rPr lang="en-US"/>
            </a:br>
            <a:r>
              <a:rPr lang="en-US"/>
              <a:t>A simulation like that rarely produces a real housing crash, so for the stress cases we replay history instead. We looked at 266 overlapping 53-month windows. Moderate is the window at the 10th percentile of house-price returns, December 2005 to May 2010. Severe is the worst window, March 2007 to August 2011. The historical rate changes are re-anchored to today's rate levels.</a:t>
            </a:r>
            <a:br>
              <a:rPr lang="en-US"/>
            </a:br>
            <a:br>
              <a:rPr lang="en-US"/>
            </a:br>
            <a:r>
              <a:rPr lang="en-US"/>
              <a:t>One caveat from the metadata: these are physical-measure scenarios, not a risk-neutral curve, and the ranks of the historical windows are not probabilities.</a:t>
            </a:r>
            <a:endParaRPr/>
          </a:p>
        </p:txBody>
      </p:sp>
      <p:sp>
        <p:nvSpPr>
          <p:cNvPr id="155" name="Google Shape;15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[Coco Ma · about 1.25 minutes]</a:t>
            </a:r>
            <a:br>
              <a:rPr lang="en-US"/>
            </a:br>
            <a:br>
              <a:rPr lang="en-US"/>
            </a:br>
            <a:r>
              <a:rPr lang="en-US"/>
              <a:t>Here are the four paths. Every path starts from the market on October 3, 2026: a 7.28 percent 30-year mortgage rate and 30-day average SOFR of about 3.76 percent.</a:t>
            </a:r>
            <a:br>
              <a:rPr lang="en-US"/>
            </a:br>
            <a:br>
              <a:rPr lang="en-US"/>
            </a:br>
            <a:r>
              <a:rPr lang="en-US"/>
              <a:t>Mortgage rates, on the left, drift down in good and base to about 5.7 to 5.8 percent by the call. The replays are bumpier: moderate keeps rates above 7 percent for about three years before falling, and severe jumps first and then falls to 5.39 percent.</a:t>
            </a:r>
            <a:br>
              <a:rPr lang="en-US"/>
            </a:br>
            <a:br>
              <a:rPr lang="en-US"/>
            </a:br>
            <a:r>
              <a:rPr lang="en-US"/>
              <a:t>House prices, in the middle, end 32 percent higher in good and 22 percent higher in base. Moderate falls about 14 percent and severe about 21 percent, which is close to the national decline after 2007.</a:t>
            </a:r>
            <a:br>
              <a:rPr lang="en-US"/>
            </a:br>
            <a:br>
              <a:rPr lang="en-US"/>
            </a:br>
            <a:r>
              <a:rPr lang="en-US"/>
              <a:t>SOFR, on the right, matters for the note coupons. In good and base it stays around 3.4 to 3.8 percent. In both replays it drops to zero, because the Fed cut to zero in the crisis, and the floor binds. The table summarizes where each path ends at the call. The SOFR resets and discount factors for each payment date are in data/scenarios/pricing_rates.csv for the waterfall and pricing.</a:t>
            </a:r>
            <a:endParaRPr/>
          </a:p>
        </p:txBody>
      </p:sp>
      <p:sp>
        <p:nvSpPr>
          <p:cNvPr id="180" name="Google Shape;1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[Reza Zamani · about 1 minute]</a:t>
            </a:r>
            <a:br>
              <a:rPr lang="en-US"/>
            </a:br>
            <a:br>
              <a:rPr lang="en-US"/>
            </a:br>
            <a:r>
              <a:rPr lang="en-US"/>
              <a:t>My part turns Haocheng's loans and Coco's scenarios into monthly pool cash flows. The model has three behaviors.</a:t>
            </a:r>
            <a:br>
              <a:rPr lang="en-US"/>
            </a:br>
            <a:br>
              <a:rPr lang="en-US"/>
            </a:br>
            <a:r>
              <a:rPr lang="en-US"/>
              <a:t>Prepayment is a seasoning ramp times a turnover floor plus an S-curve in the refinancing incentive, the loan's coupon minus the market mortgage rate, less burnout. Fitted, turnover is 5.5 percent a year and refinancing can add up to 41 percent once the incentive is well past 0.7 points.</a:t>
            </a:r>
            <a:br>
              <a:rPr lang="en-US"/>
            </a:br>
            <a:br>
              <a:rPr lang="en-US"/>
            </a:br>
            <a:r>
              <a:rPr lang="en-US"/>
              <a:t>Default is a Poisson GLM for the monthly default rate. The key driver is mark-to-market LTV, which moves with the scenario's house prices and gets steeper above 80, plus FICO, DTI, investor status and recent delinquency.</a:t>
            </a:r>
            <a:br>
              <a:rPr lang="en-US"/>
            </a:br>
            <a:br>
              <a:rPr lang="en-US"/>
            </a:br>
            <a:r>
              <a:rPr lang="en-US"/>
              <a:t>A defaulted loan then waits about 19 months before it becomes a credit event. The loss is built the way the deal defines it: balance plus missed interest plus costs, minus the sale proceeds at a 48 percent distressed discount. We assume no cures, which is conservative. Modifications cut the interest the notes receive, and we pass that through as well.</a:t>
            </a:r>
            <a:endParaRPr/>
          </a:p>
        </p:txBody>
      </p:sp>
      <p:sp>
        <p:nvSpPr>
          <p:cNvPr id="191" name="Google Shape;1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[Reza Zamani · about 1.25 minutes]</a:t>
            </a:r>
            <a:br>
              <a:rPr lang="en-US"/>
            </a:br>
            <a:br>
              <a:rPr lang="en-US"/>
            </a:br>
            <a:r>
              <a:rPr lang="en-US"/>
              <a:t>Every parameter is fitted on Freddie Mac's Single-Family Loan-Level Dataset: 27 vintages from 2000 to 2026, about 978,000 thirty-year fixed loans and 48 million loan-months, matched with the PMMS rate and the FHFA house price index.</a:t>
            </a:r>
            <a:br>
              <a:rPr lang="en-US"/>
            </a:br>
            <a:br>
              <a:rPr lang="en-US"/>
            </a:br>
            <a:r>
              <a:rPr lang="en-US"/>
              <a:t>On the left, prepayment: observed speed against the refinancing incentive, with the fitted S-curve. It explains 91 percent of the dollar-weighted variation. Speeds sit around 5 to 6 percent when loans are out of the money and climb past 30 percent once borrowers can save more than a point.</a:t>
            </a:r>
            <a:br>
              <a:rPr lang="en-US"/>
            </a:br>
            <a:br>
              <a:rPr lang="en-US"/>
            </a:br>
            <a:r>
              <a:rPr lang="en-US"/>
              <a:t>In the middle, default: a Poisson GLM on 38 million loan-months and 22,598 default spells. Default rates rise gently up to LTV 80 and then more than triple between 80 and 100.</a:t>
            </a:r>
            <a:br>
              <a:rPr lang="en-US"/>
            </a:br>
            <a:br>
              <a:rPr lang="en-US"/>
            </a:br>
            <a:r>
              <a:rPr lang="en-US"/>
              <a:t>On the right, the liquidation side: a median of 19 months from first missed payment to credit event, and a 48 percent distressed-sale discount. With those, the model's average severity is 45.5 percent against 44.4 percent observed on 17,389 liquidations.</a:t>
            </a:r>
            <a:endParaRPr/>
          </a:p>
        </p:txBody>
      </p:sp>
      <p:sp>
        <p:nvSpPr>
          <p:cNvPr id="215" name="Google Shape;21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[Reza Zamani · about 1 minute]</a:t>
            </a:r>
            <a:br>
              <a:rPr lang="en-US"/>
            </a:br>
            <a:br>
              <a:rPr lang="en-US"/>
            </a:br>
            <a:r>
              <a:rPr lang="en-US"/>
              <a:t>Running the full pool through Coco's four scenarios gives these balances.</a:t>
            </a:r>
            <a:br>
              <a:rPr lang="en-US"/>
            </a:br>
            <a:br>
              <a:rPr lang="en-US"/>
            </a:br>
            <a:r>
              <a:rPr lang="en-US"/>
              <a:t>For the first year all four look alike. Rates start at 7.28 percent, above the pool's 6.76 percent coupon, so year-1 CPR is only 8 to 11 percent. After that the paths split according to when rates fall below the coupon. Good and base speed up steadily and are half paid down around month 40 to 42. The severe path refinances heavily once its rates drop in month 21, so it ends almost level with base. Moderate keeps rates above 7 percent for three years, so 48 percent of today's pool is still outstanding at the call. That is the extension case for the notes.</a:t>
            </a:r>
            <a:endParaRPr/>
          </a:p>
        </p:txBody>
      </p:sp>
      <p:sp>
        <p:nvSpPr>
          <p:cNvPr id="234" name="Google Shape;23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[Reza Zamani · about 1 minute]</a:t>
            </a:r>
            <a:br>
              <a:rPr lang="en-US"/>
            </a:br>
            <a:br>
              <a:rPr lang="en-US"/>
            </a:br>
            <a:r>
              <a:rPr lang="en-US"/>
              <a:t>This is the answer to the credit question. Pool losses to the 2031 call run from 0.20 percent of the cut-off balance in the good case to 0.37 percent in the severe case, where house prices fall 21 percent. Severity rises from 38 to 57 percent as house prices fall.</a:t>
            </a:r>
            <a:br>
              <a:rPr lang="en-US"/>
            </a:br>
            <a:br>
              <a:rPr lang="en-US"/>
            </a:br>
            <a:r>
              <a:rPr lang="en-US"/>
              <a:t>On the right is Al's tranche stack drawn to scale. Good and base losses stay inside B-3H, Freddie Mac's first-loss piece. Moderate and severe move into B-2H, which Freddie Mac also keeps. The red line is the severe loss. M-2B, the first offered note, only attaches at 1.90 percent, about five times higher.</a:t>
            </a:r>
            <a:br>
              <a:rPr lang="en-US"/>
            </a:br>
            <a:br>
              <a:rPr lang="en-US"/>
            </a:br>
            <a:r>
              <a:rPr lang="en-US"/>
              <a:t>So none of the offered notes is written down in any scenario. For these investors the risk is timing: when the principal comes back. That is what Smarajit's waterfall measures, so over to Smarajit.</a:t>
            </a:r>
            <a:endParaRPr/>
          </a:p>
        </p:txBody>
      </p:sp>
      <p:sp>
        <p:nvSpPr>
          <p:cNvPr id="244" name="Google Shape;2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[Smarajit Paul Choudhury · about 1.5 minutes]</a:t>
            </a:r>
            <a:br>
              <a:rPr lang="en-US"/>
            </a:br>
            <a:br>
              <a:rPr lang="en-US"/>
            </a:br>
            <a:r>
              <a:rPr lang="en-US"/>
              <a:t>My part is the waterfall: it applies the deal's rules from Al's section to Reza's pool cash flows, month by month, for every class, and then prices the notes.</a:t>
            </a:r>
            <a:br>
              <a:rPr lang="en-US"/>
            </a:br>
            <a:br>
              <a:rPr lang="en-US"/>
            </a:br>
            <a:r>
              <a:rPr lang="en-US"/>
              <a:t>The interesting result is the minimum credit enhancement trigger. The test requires the Subordinate Percentage, the share of the deal below A-1, to be at least 3.525 percent. This deal starts exactly on that line, with no cushion.</a:t>
            </a:r>
            <a:br>
              <a:rPr lang="en-US"/>
            </a:br>
            <a:br>
              <a:rPr lang="en-US"/>
            </a:br>
            <a:r>
              <a:rPr lang="en-US"/>
              <a:t>In month 9, the loans that were already delinquent on Haocheng's tape reach the end of the liquidation pipeline together. That produces a $23.31 million loss, which is written off B-3H only. The loss shrinks the subordinate share below 3.525 percent, so for months 10 to 12, in every scenario, all principal goes to the senior classes and M-1 and M-2 receive none. Senior-only paydown then rebuilds the share above the line and the M notes are paid again.</a:t>
            </a:r>
            <a:br>
              <a:rPr lang="en-US"/>
            </a:br>
            <a:br>
              <a:rPr lang="en-US"/>
            </a:br>
            <a:r>
              <a:rPr lang="en-US"/>
              <a:t>Every later loss does the same thing for a month or so, which is the table on the right: more failures in moderate and severe because they have more losses. The other two tests, cumulative loss and delinquency, pass throughout.</a:t>
            </a:r>
            <a:br>
              <a:rPr lang="en-US"/>
            </a:br>
            <a:br>
              <a:rPr lang="en-US"/>
            </a:br>
            <a:r>
              <a:rPr lang="en-US"/>
              <a:t>One caveat: the size of the month-9 lump is partly our simplification. Spreading those liquidations over several months would smooth it.</a:t>
            </a:r>
            <a:endParaRPr/>
          </a:p>
        </p:txBody>
      </p:sp>
      <p:sp>
        <p:nvSpPr>
          <p:cNvPr id="270" name="Google Shape;27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[Smarajit Paul Choudhury · about 1.25 minutes]</a:t>
            </a:r>
            <a:br>
              <a:rPr lang="en-US"/>
            </a:br>
            <a:br>
              <a:rPr lang="en-US"/>
            </a:br>
            <a:r>
              <a:rPr lang="en-US"/>
              <a:t>Here are the results for the notes, measured from September 2026.</a:t>
            </a:r>
            <a:br>
              <a:rPr lang="en-US"/>
            </a:br>
            <a:br>
              <a:rPr lang="en-US"/>
            </a:br>
            <a:r>
              <a:rPr lang="en-US"/>
              <a:t>First, there are no write-downs for any offered class in any scenario. That confirms Reza's result at the note level.</a:t>
            </a:r>
            <a:br>
              <a:rPr lang="en-US"/>
            </a:br>
            <a:br>
              <a:rPr lang="en-US"/>
            </a:br>
            <a:r>
              <a:rPr lang="en-US"/>
              <a:t>Second, the lives. A-1 has a fixed pay-down schedule, so its weighted-average life is 1.40 years and its last payment is month 30 in every scenario. The M notes depend on the pool's speed. In the base case M-1 lives 1.2 years and M-2B 2.8 years. In the moderate case, where house prices fall but rates stay above the pool's coupon for three years, borrowers can't refinance and M-1 and M-2 extend by about a year; M-2B goes to 3.8 years. The chart shows that for M-2B: its balance stays at $37.85 million much longer in moderate. Severe extends less because rates fall and refinancing picks up.</a:t>
            </a:r>
            <a:br>
              <a:rPr lang="en-US"/>
            </a:br>
            <a:br>
              <a:rPr lang="en-US"/>
            </a:br>
            <a:r>
              <a:rPr lang="en-US"/>
              <a:t>All our lives are shorter than the PPM's pricing assumption at issue, mostly because we measure them from September 2026, seven months after closing.</a:t>
            </a:r>
            <a:endParaRPr/>
          </a:p>
        </p:txBody>
      </p:sp>
      <p:sp>
        <p:nvSpPr>
          <p:cNvPr id="284" name="Google Shape;28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[Smarajit Paul Choudhury · about 1.25 minutes]</a:t>
            </a:r>
            <a:br>
              <a:rPr lang="en-US"/>
            </a:br>
            <a:br>
              <a:rPr lang="en-US"/>
            </a:br>
            <a:r>
              <a:rPr lang="en-US"/>
              <a:t>To price, I discount each class's monthly cash flows at the scenario's SOFR path plus a discount margin. These are full prices per 100 including about 0.10 of accrued interest.</a:t>
            </a:r>
            <a:br>
              <a:rPr lang="en-US"/>
            </a:br>
            <a:br>
              <a:rPr lang="en-US"/>
            </a:br>
            <a:r>
              <a:rPr lang="en-US"/>
              <a:t>The first table is the base case. When the discount margin equals the class's own coupon spread, every class is worth 100.10, which is par plus accrued. That is what a floater should do, and it is a good check on the code.</a:t>
            </a:r>
            <a:br>
              <a:rPr lang="en-US"/>
            </a:br>
            <a:br>
              <a:rPr lang="en-US"/>
            </a:br>
            <a:r>
              <a:rPr lang="en-US"/>
              <a:t>Away from that point, value is about timing. If investors demand less than the coupon spread, the notes trade at a premium, and the longer the life, the bigger it is. M-2B moves about 2.7 points per 100 basis points of discount margin in the base case.</a:t>
            </a:r>
            <a:br>
              <a:rPr lang="en-US"/>
            </a:br>
            <a:br>
              <a:rPr lang="en-US"/>
            </a:br>
            <a:r>
              <a:rPr lang="en-US"/>
              <a:t>The second table shows M-2B by scenario. In the moderate case the range between a 0 and 200 basis point DM widens to 7.1 points, because the note lives a year longer. So extension matters for price only when the note's spread differs from what the market wants.</a:t>
            </a:r>
            <a:br>
              <a:rPr lang="en-US"/>
            </a:br>
            <a:br>
              <a:rPr lang="en-US"/>
            </a:br>
            <a:r>
              <a:rPr lang="en-US"/>
              <a:t>Going the other way, from a market price to a discount margin, we solve by bisection. That is what Haocheng uses to compare our cash flows with Bloomberg.</a:t>
            </a:r>
            <a:endParaRPr/>
          </a:p>
        </p:txBody>
      </p:sp>
      <p:sp>
        <p:nvSpPr>
          <p:cNvPr id="296" name="Google Shape;29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[Haocheng Sun · about 1.5 minutes]</a:t>
            </a:r>
            <a:br>
              <a:rPr lang="en-US"/>
            </a:br>
            <a:br>
              <a:rPr lang="en-US"/>
            </a:br>
            <a:r>
              <a:rPr lang="en-US"/>
              <a:t>My second job was to check the whole model against the market. I pulled Bloomberg's description, price and pool screens for every class as of October 2, and I wrote 16 automated tests on our outputs: the pool and every tranche balance reconcile month to month, nothing goes negative, no offered class is written down, and prices fall as the discount margin rises. All 16 pass.</a:t>
            </a:r>
            <a:br>
              <a:rPr lang="en-US"/>
            </a:br>
            <a:br>
              <a:rPr lang="en-US"/>
            </a:br>
            <a:r>
              <a:rPr lang="en-US"/>
              <a:t>The table compares us with Bloomberg. Balances match exactly. Bloomberg's weighted-average lives all fall inside our scenario range. For A-1 and M-1 they match our base case almost exactly, and both trade at their coupon spread, close to par.</a:t>
            </a:r>
            <a:br>
              <a:rPr lang="en-US"/>
            </a:br>
            <a:br>
              <a:rPr lang="en-US"/>
            </a:br>
            <a:r>
              <a:rPr lang="en-US"/>
              <a:t>M-2 is the interesting one. M-2A and M-2B trade at a discount, at 141 and 157 basis points, wider than their 130 basis point coupon. Bloomberg's lives for them, 2.8 and 3.5 years, are longer than our base and close to our moderate case. Since no scenario writes M-2 down, the extra spread is paying for extension risk, not credit risk.</a:t>
            </a:r>
            <a:br>
              <a:rPr lang="en-US"/>
            </a:br>
            <a:br>
              <a:rPr lang="en-US"/>
            </a:br>
            <a:r>
              <a:rPr lang="en-US"/>
              <a:t>Is M-2B cheap? If you buy it at the ask, our base cash flows earn 162 basis points, about 5 more than Bloomberg says, because we expect it back sooner at par. Our moderate cash flows earn 154. So it is slightly cheap on our base case and about fair if you believe the slower moderate path.</a:t>
            </a:r>
            <a:endParaRPr/>
          </a:p>
        </p:txBody>
      </p:sp>
      <p:sp>
        <p:nvSpPr>
          <p:cNvPr id="310" name="Google Shape;31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[Coco Ma · about 45 seconds]</a:t>
            </a:r>
            <a:br>
              <a:rPr lang="en-US"/>
            </a:br>
            <a:br>
              <a:rPr lang="en-US"/>
            </a:br>
            <a:r>
              <a:rPr lang="en-US"/>
              <a:t>To close, our five hypotheses. We expected a strong pool to lose well under 1 percent; it loses 0.20 to 0.37 percent. We expected the 1.90 percent of subordination to absorb those losses; no offered class is written down in any scenario. We expected slow prepayments to make extension the main risk; year-one speeds are 8 to 11 percent and the M notes extend about a year in the moderate case. We expected the floaters to price at par at their own spread; they do. And we expected to agree with the market; we do on balances, credit and A-1 and M-1, while the market prices M-2 closer to our slower moderate case.</a:t>
            </a:r>
            <a:endParaRPr/>
          </a:p>
        </p:txBody>
      </p:sp>
      <p:sp>
        <p:nvSpPr>
          <p:cNvPr id="331" name="Google Shape;33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[Coco Ma · about 45 seconds]</a:t>
            </a:r>
            <a:br>
              <a:rPr lang="en-US"/>
            </a:br>
            <a:br>
              <a:rPr lang="en-US"/>
            </a:br>
            <a:r>
              <a:rPr lang="en-US"/>
              <a:t>Our recommendations follow from the timing risk. A-1 has the same 1.4-year life in every scenario, so it suits banks and money-market-style buyers who want a short SOFR floater. M-1 adds spread with modest extension, which suits insurers and asset managers. M-2A and M-2B pay the most, 141 to 157 basis points at the market ask, but can extend to almost four years, so they belong with credit funds and hedge funds that can hold through slower paydown. None of the classes has a projected loss.</a:t>
            </a:r>
            <a:br>
              <a:rPr lang="en-US"/>
            </a:br>
            <a:br>
              <a:rPr lang="en-US"/>
            </a:br>
            <a:r>
              <a:rPr lang="en-US"/>
              <a:t>The main limitations are on the right: the month-9 lump comes from liquidating the starting delinquent loans on one date, we assume no cures and national house prices, we have one Bloomberg snapshot, and we assume the 2031 call. Thank you, and we're happy to take questions.</a:t>
            </a:r>
            <a:endParaRPr/>
          </a:p>
        </p:txBody>
      </p:sp>
      <p:sp>
        <p:nvSpPr>
          <p:cNvPr id="339" name="Google Shape;33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chemeClr val="dk2"/>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731520" y="1828800"/>
            <a:ext cx="10698480" cy="14630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Cambria"/>
              <a:buNone/>
              <a:defRPr b="1" i="0" sz="40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474720"/>
            <a:ext cx="10698480" cy="23774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rgbClr val="CADCE6"/>
              </a:buClr>
              <a:buSzPts val="1800"/>
              <a:buFont typeface="Arial"/>
              <a:buNone/>
              <a:defRPr b="0" i="0" sz="1800" u="none" cap="none" strike="noStrike">
                <a:solidFill>
                  <a:srgbClr val="CADCE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idx="1" type="body"/>
          </p:nvPr>
        </p:nvSpPr>
        <p:spPr>
          <a:xfrm>
            <a:off x="548640" y="292608"/>
            <a:ext cx="8229600" cy="3200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60"/>
              </a:spcBef>
              <a:spcAft>
                <a:spcPts val="0"/>
              </a:spcAft>
              <a:buClr>
                <a:schemeClr val="accent3"/>
              </a:buClr>
              <a:buSzPts val="1300"/>
              <a:buFont typeface="Arial"/>
              <a:buNone/>
              <a:defRPr b="1" i="0" sz="1300" u="none" cap="none" strike="noStrike">
                <a:solidFill>
                  <a:schemeClr val="accent3"/>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3"/>
          <p:cNvSpPr txBox="1"/>
          <p:nvPr>
            <p:ph type="title"/>
          </p:nvPr>
        </p:nvSpPr>
        <p:spPr>
          <a:xfrm>
            <a:off x="548640" y="640080"/>
            <a:ext cx="10241280"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400"/>
              <a:buFont typeface="Cambria"/>
              <a:buNone/>
              <a:defRPr b="1" i="0" sz="2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3"/>
          <p:cNvSpPr/>
          <p:nvPr/>
        </p:nvSpPr>
        <p:spPr>
          <a:xfrm>
            <a:off x="548640" y="641908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STACR 2026-DNA1 · MFE230M ABSM team project</a:t>
            </a:r>
            <a:endParaRPr b="0" i="0" sz="1000" u="none" cap="none" strike="noStrike">
              <a:solidFill>
                <a:schemeClr val="dk1"/>
              </a:solidFill>
              <a:latin typeface="Calibri"/>
              <a:ea typeface="Calibri"/>
              <a:cs typeface="Calibri"/>
              <a:sym typeface="Calibri"/>
            </a:endParaRPr>
          </a:p>
        </p:txBody>
      </p:sp>
      <p:sp>
        <p:nvSpPr>
          <p:cNvPr id="18" name="Google Shape;18;p3"/>
          <p:cNvSpPr txBox="1"/>
          <p:nvPr>
            <p:ph idx="12" type="sldNum"/>
          </p:nvPr>
        </p:nvSpPr>
        <p:spPr>
          <a:xfrm>
            <a:off x="11183112" y="6419088"/>
            <a:ext cx="457200" cy="27432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183112" y="6419088"/>
            <a:ext cx="457200" cy="27432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chemeClr val="accent5"/>
                </a:solidFill>
                <a:latin typeface="Calibri"/>
                <a:ea typeface="Calibri"/>
                <a:cs typeface="Calibri"/>
                <a:sym typeface="Calibri"/>
              </a:defRPr>
            </a:lvl1pPr>
            <a:lvl2pPr indent="0" lvl="1" marL="0" marR="0" rtl="0" algn="r">
              <a:spcBef>
                <a:spcPts val="0"/>
              </a:spcBef>
              <a:buNone/>
              <a:defRPr b="0" i="0" sz="1000" u="none" cap="none" strike="noStrike">
                <a:solidFill>
                  <a:schemeClr val="accent5"/>
                </a:solidFill>
                <a:latin typeface="Calibri"/>
                <a:ea typeface="Calibri"/>
                <a:cs typeface="Calibri"/>
                <a:sym typeface="Calibri"/>
              </a:defRPr>
            </a:lvl2pPr>
            <a:lvl3pPr indent="0" lvl="2" marL="0" marR="0" rtl="0" algn="r">
              <a:spcBef>
                <a:spcPts val="0"/>
              </a:spcBef>
              <a:buNone/>
              <a:defRPr b="0" i="0" sz="1000" u="none" cap="none" strike="noStrike">
                <a:solidFill>
                  <a:schemeClr val="accent5"/>
                </a:solidFill>
                <a:latin typeface="Calibri"/>
                <a:ea typeface="Calibri"/>
                <a:cs typeface="Calibri"/>
                <a:sym typeface="Calibri"/>
              </a:defRPr>
            </a:lvl3pPr>
            <a:lvl4pPr indent="0" lvl="3" marL="0" marR="0" rtl="0" algn="r">
              <a:spcBef>
                <a:spcPts val="0"/>
              </a:spcBef>
              <a:buNone/>
              <a:defRPr b="0" i="0" sz="1000" u="none" cap="none" strike="noStrike">
                <a:solidFill>
                  <a:schemeClr val="accent5"/>
                </a:solidFill>
                <a:latin typeface="Calibri"/>
                <a:ea typeface="Calibri"/>
                <a:cs typeface="Calibri"/>
                <a:sym typeface="Calibri"/>
              </a:defRPr>
            </a:lvl4pPr>
            <a:lvl5pPr indent="0" lvl="4" marL="0" marR="0" rtl="0" algn="r">
              <a:spcBef>
                <a:spcPts val="0"/>
              </a:spcBef>
              <a:buNone/>
              <a:defRPr b="0" i="0" sz="1000" u="none" cap="none" strike="noStrike">
                <a:solidFill>
                  <a:schemeClr val="accent5"/>
                </a:solidFill>
                <a:latin typeface="Calibri"/>
                <a:ea typeface="Calibri"/>
                <a:cs typeface="Calibri"/>
                <a:sym typeface="Calibri"/>
              </a:defRPr>
            </a:lvl5pPr>
            <a:lvl6pPr indent="0" lvl="5" marL="0" marR="0" rtl="0" algn="r">
              <a:spcBef>
                <a:spcPts val="0"/>
              </a:spcBef>
              <a:buNone/>
              <a:defRPr b="0" i="0" sz="1000" u="none" cap="none" strike="noStrike">
                <a:solidFill>
                  <a:schemeClr val="accent5"/>
                </a:solidFill>
                <a:latin typeface="Calibri"/>
                <a:ea typeface="Calibri"/>
                <a:cs typeface="Calibri"/>
                <a:sym typeface="Calibri"/>
              </a:defRPr>
            </a:lvl6pPr>
            <a:lvl7pPr indent="0" lvl="6" marL="0" marR="0" rtl="0" algn="r">
              <a:spcBef>
                <a:spcPts val="0"/>
              </a:spcBef>
              <a:buNone/>
              <a:defRPr b="0" i="0" sz="1000" u="none" cap="none" strike="noStrike">
                <a:solidFill>
                  <a:schemeClr val="accent5"/>
                </a:solidFill>
                <a:latin typeface="Calibri"/>
                <a:ea typeface="Calibri"/>
                <a:cs typeface="Calibri"/>
                <a:sym typeface="Calibri"/>
              </a:defRPr>
            </a:lvl7pPr>
            <a:lvl8pPr indent="0" lvl="7" marL="0" marR="0" rtl="0" algn="r">
              <a:spcBef>
                <a:spcPts val="0"/>
              </a:spcBef>
              <a:buNone/>
              <a:defRPr b="0" i="0" sz="1000" u="none" cap="none" strike="noStrike">
                <a:solidFill>
                  <a:schemeClr val="accent5"/>
                </a:solidFill>
                <a:latin typeface="Calibri"/>
                <a:ea typeface="Calibri"/>
                <a:cs typeface="Calibri"/>
                <a:sym typeface="Calibri"/>
              </a:defRPr>
            </a:lvl8pPr>
            <a:lvl9pPr indent="0" lvl="8" marL="0" marR="0" rtl="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5"/>
          <p:cNvSpPr txBox="1"/>
          <p:nvPr>
            <p:ph type="title"/>
          </p:nvPr>
        </p:nvSpPr>
        <p:spPr>
          <a:xfrm>
            <a:off x="731520" y="1828800"/>
            <a:ext cx="10698480" cy="146304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4000"/>
              <a:buFont typeface="Cambria"/>
              <a:buNone/>
            </a:pPr>
            <a:r>
              <a:rPr b="1" lang="en-US" sz="4000">
                <a:solidFill>
                  <a:schemeClr val="lt1"/>
                </a:solidFill>
                <a:latin typeface="Cambria"/>
                <a:ea typeface="Cambria"/>
                <a:cs typeface="Cambria"/>
                <a:sym typeface="Cambria"/>
              </a:rPr>
              <a:t>Pricing Freddie Mac STACR 2026-DNA1 credit risk transfer notes</a:t>
            </a:r>
            <a:endParaRPr sz="4000"/>
          </a:p>
        </p:txBody>
      </p:sp>
      <p:sp>
        <p:nvSpPr>
          <p:cNvPr id="26" name="Google Shape;26;p5"/>
          <p:cNvSpPr txBox="1"/>
          <p:nvPr>
            <p:ph idx="1" type="body"/>
          </p:nvPr>
        </p:nvSpPr>
        <p:spPr>
          <a:xfrm>
            <a:off x="731520" y="3474720"/>
            <a:ext cx="10698480" cy="2377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000"/>
              <a:buNone/>
            </a:pPr>
            <a:r>
              <a:rPr lang="en-US" sz="2000">
                <a:solidFill>
                  <a:srgbClr val="FFFFFF"/>
                </a:solidFill>
              </a:rPr>
              <a:t>Deal structure, scenarios, a loan-level default and prepayment model, the waterfall, prices, and a check against the market for the A-1, M-1 and M-2 notes</a:t>
            </a:r>
            <a:endParaRPr sz="1800"/>
          </a:p>
          <a:p>
            <a:pPr indent="0" lvl="0" marL="0" rtl="0" algn="l">
              <a:spcBef>
                <a:spcPts val="240"/>
              </a:spcBef>
              <a:spcAft>
                <a:spcPts val="0"/>
              </a:spcAft>
              <a:buClr>
                <a:srgbClr val="CADCE6"/>
              </a:buClr>
              <a:buSzPts val="1200"/>
              <a:buNone/>
            </a:pPr>
            <a:r>
              <a:rPr lang="en-US" sz="1200">
                <a:solidFill>
                  <a:srgbClr val="CADCE6"/>
                </a:solidFill>
              </a:rPr>
              <a:t> </a:t>
            </a:r>
            <a:endParaRPr sz="1800"/>
          </a:p>
          <a:p>
            <a:pPr indent="0" lvl="0" marL="0" rtl="0" algn="l">
              <a:spcBef>
                <a:spcPts val="360"/>
              </a:spcBef>
              <a:spcAft>
                <a:spcPts val="0"/>
              </a:spcAft>
              <a:buClr>
                <a:srgbClr val="E3B448"/>
              </a:buClr>
              <a:buSzPts val="1800"/>
              <a:buNone/>
            </a:pPr>
            <a:r>
              <a:rPr b="1" lang="en-US" sz="1800">
                <a:solidFill>
                  <a:srgbClr val="E3B448"/>
                </a:solidFill>
              </a:rPr>
              <a:t>Al Yazid Bensaid · Haocheng Sun · Coco Ma · Reza Zamani · Smarajit Paul Choudhury</a:t>
            </a:r>
            <a:endParaRPr sz="1800"/>
          </a:p>
          <a:p>
            <a:pPr indent="0" lvl="0" marL="0" rtl="0" algn="l">
              <a:spcBef>
                <a:spcPts val="360"/>
              </a:spcBef>
              <a:spcAft>
                <a:spcPts val="0"/>
              </a:spcAft>
              <a:buClr>
                <a:srgbClr val="CADCE6"/>
              </a:buClr>
              <a:buSzPts val="1800"/>
              <a:buNone/>
            </a:pPr>
            <a:r>
              <a:rPr lang="en-US" sz="1800">
                <a:solidFill>
                  <a:srgbClr val="CADCE6"/>
                </a:solidFill>
              </a:rPr>
              <a:t>MFE230M Asset-Backed Securities Markets · Prof. Nancy Wallace · UC Berkeley MFE · October 2026</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6"/>
          <p:cNvSpPr txBox="1"/>
          <p:nvPr>
            <p:ph idx="1" type="body"/>
          </p:nvPr>
        </p:nvSpPr>
        <p:spPr>
          <a:xfrm>
            <a:off x="548640" y="292608"/>
            <a:ext cx="8229600" cy="3200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accent3"/>
              </a:buClr>
              <a:buSzPts val="1300"/>
              <a:buNone/>
            </a:pPr>
            <a:r>
              <a:rPr b="1" lang="en-US" sz="1300">
                <a:solidFill>
                  <a:schemeClr val="accent3"/>
                </a:solidFill>
              </a:rPr>
              <a:t>AGENDA AND QUESTIONS</a:t>
            </a:r>
            <a:endParaRPr sz="1300"/>
          </a:p>
        </p:txBody>
      </p:sp>
      <p:sp>
        <p:nvSpPr>
          <p:cNvPr id="33" name="Google Shape;33;p6"/>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Five parts, one pipeline from loan tape to price</a:t>
            </a:r>
            <a:endParaRPr sz="2400"/>
          </a:p>
        </p:txBody>
      </p:sp>
      <p:graphicFrame>
        <p:nvGraphicFramePr>
          <p:cNvPr id="34" name="Google Shape;34;p6"/>
          <p:cNvGraphicFramePr/>
          <p:nvPr/>
        </p:nvGraphicFramePr>
        <p:xfrm>
          <a:off x="548640" y="1554480"/>
          <a:ext cx="3000000" cy="3000000"/>
        </p:xfrm>
        <a:graphic>
          <a:graphicData uri="http://schemas.openxmlformats.org/drawingml/2006/table">
            <a:tbl>
              <a:tblPr>
                <a:noFill/>
                <a:tableStyleId>{25C77E93-19F6-4675-AD0D-53BB172675F8}</a:tableStyleId>
              </a:tblPr>
              <a:tblGrid>
                <a:gridCol w="411475"/>
                <a:gridCol w="3063250"/>
                <a:gridCol w="2103125"/>
                <a:gridCol w="822950"/>
              </a:tblGrid>
              <a:tr h="45720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Part</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Presenter</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Time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Deal structure, loss and principal rules</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Al Yazid Bensaid</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3.5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2</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Loan data and cleaning</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Haocheng Sun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1.5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3</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Rate and house-price scenarios</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Coco Ma</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2.5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4</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Default and prepayment model</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Reza Zamani</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4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5</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Waterfall and pricing</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Smarajit Paul Choudhury</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4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2</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Check against Bloomberg</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Haocheng Sun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1.5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57200">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3</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Verdicts and recommendations</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300"/>
                        <a:buFont typeface="Calibri"/>
                        <a:buNone/>
                      </a:pPr>
                      <a:r>
                        <a:rPr lang="en-US" sz="1300" u="none" cap="none" strike="noStrike">
                          <a:solidFill>
                            <a:srgbClr val="1B2A34"/>
                          </a:solidFill>
                        </a:rPr>
                        <a:t>Coco Ma</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1.5 min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35" name="Google Shape;35;p6"/>
          <p:cNvSpPr txBox="1"/>
          <p:nvPr/>
        </p:nvSpPr>
        <p:spPr>
          <a:xfrm>
            <a:off x="548640" y="5349240"/>
            <a:ext cx="6400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200"/>
              <a:buFont typeface="Calibri"/>
              <a:buNone/>
            </a:pPr>
            <a:r>
              <a:rPr b="0" i="0" lang="en-US" sz="1200" u="none" cap="none" strike="noStrike">
                <a:solidFill>
                  <a:srgbClr val="5A6B78"/>
                </a:solidFill>
                <a:latin typeface="Calibri"/>
                <a:ea typeface="Calibri"/>
                <a:cs typeface="Calibri"/>
                <a:sym typeface="Calibri"/>
              </a:rPr>
              <a:t>About 20 minutes, then questions</a:t>
            </a:r>
            <a:endParaRPr b="0" i="0" sz="1200" u="none" cap="none" strike="noStrike">
              <a:solidFill>
                <a:schemeClr val="dk1"/>
              </a:solidFill>
              <a:latin typeface="Calibri"/>
              <a:ea typeface="Calibri"/>
              <a:cs typeface="Calibri"/>
              <a:sym typeface="Calibri"/>
            </a:endParaRPr>
          </a:p>
        </p:txBody>
      </p:sp>
      <p:sp>
        <p:nvSpPr>
          <p:cNvPr id="36" name="Google Shape;36;p6"/>
          <p:cNvSpPr/>
          <p:nvPr/>
        </p:nvSpPr>
        <p:spPr>
          <a:xfrm>
            <a:off x="7269480" y="1554480"/>
            <a:ext cx="4343400" cy="4617720"/>
          </a:xfrm>
          <a:prstGeom prst="roundRect">
            <a:avLst>
              <a:gd fmla="val 168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nvSpPr>
        <p:spPr>
          <a:xfrm>
            <a:off x="7498080" y="1691640"/>
            <a:ext cx="3886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What we set out to answer</a:t>
            </a:r>
            <a:endParaRPr b="0" i="0" sz="1600" u="none" cap="none" strike="noStrike">
              <a:solidFill>
                <a:schemeClr val="dk1"/>
              </a:solidFill>
              <a:latin typeface="Calibri"/>
              <a:ea typeface="Calibri"/>
              <a:cs typeface="Calibri"/>
              <a:sym typeface="Calibri"/>
            </a:endParaRPr>
          </a:p>
        </p:txBody>
      </p:sp>
      <p:sp>
        <p:nvSpPr>
          <p:cNvPr id="38" name="Google Shape;38;p6"/>
          <p:cNvSpPr txBox="1"/>
          <p:nvPr/>
        </p:nvSpPr>
        <p:spPr>
          <a:xfrm>
            <a:off x="7498080" y="2194560"/>
            <a:ext cx="3886200" cy="384048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How is the deal organized, and what protects investors?</a:t>
            </a:r>
            <a:endParaRPr b="0" i="0" sz="13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How fast does the pool prepay and how much does it lose?</a:t>
            </a:r>
            <a:endParaRPr b="0" i="0" sz="13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Do those losses reach A-1, M-1 or M-2? If not, what is the risk?</a:t>
            </a:r>
            <a:endParaRPr b="0" i="0" sz="13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What are the notes' lives and prices across scenarios?</a:t>
            </a:r>
            <a:endParaRPr b="0" i="0" sz="13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Do our lives and prices agree with Bloomberg?</a:t>
            </a:r>
            <a:endParaRPr b="0" i="0" sz="1300" u="none" cap="none" strike="noStrike">
              <a:solidFill>
                <a:schemeClr val="dk1"/>
              </a:solidFill>
              <a:latin typeface="Calibri"/>
              <a:ea typeface="Calibri"/>
              <a:cs typeface="Calibri"/>
              <a:sym typeface="Calibri"/>
            </a:endParaRPr>
          </a:p>
          <a:p>
            <a:pPr indent="-177800" lvl="0" marL="177800" marR="0" rtl="0" algn="l">
              <a:spcBef>
                <a:spcPts val="9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Which investors should own which class?</a:t>
            </a:r>
            <a:endParaRPr b="0" i="0" sz="1300" u="none" cap="none" strike="noStrike">
              <a:solidFill>
                <a:schemeClr val="dk1"/>
              </a:solidFill>
              <a:latin typeface="Calibri"/>
              <a:ea typeface="Calibri"/>
              <a:cs typeface="Calibri"/>
              <a:sym typeface="Calibri"/>
            </a:endParaRPr>
          </a:p>
        </p:txBody>
      </p:sp>
      <p:sp>
        <p:nvSpPr>
          <p:cNvPr id="39" name="Google Shape;39;p6"/>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7"/>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Investors buy notes from a trust, not mortgages</a:t>
            </a:r>
            <a:endParaRPr sz="2400"/>
          </a:p>
        </p:txBody>
      </p:sp>
      <p:sp>
        <p:nvSpPr>
          <p:cNvPr id="46" name="Google Shape;46;p7"/>
          <p:cNvSpPr/>
          <p:nvPr/>
        </p:nvSpPr>
        <p:spPr>
          <a:xfrm>
            <a:off x="548640" y="2103120"/>
            <a:ext cx="2194560" cy="1188720"/>
          </a:xfrm>
          <a:prstGeom prst="roundRect">
            <a:avLst>
              <a:gd fmla="val 6154" name="adj"/>
            </a:avLst>
          </a:prstGeom>
          <a:solidFill>
            <a:srgbClr val="EEF3F5"/>
          </a:solidFill>
          <a:ln cap="flat" cmpd="sng" w="12700">
            <a:solidFill>
              <a:srgbClr val="EEF3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7"/>
          <p:cNvSpPr txBox="1"/>
          <p:nvPr/>
        </p:nvSpPr>
        <p:spPr>
          <a:xfrm>
            <a:off x="685800" y="2103120"/>
            <a:ext cx="192024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4"/>
              </a:buClr>
              <a:buSzPts val="1600"/>
              <a:buFont typeface="Calibri"/>
              <a:buNone/>
            </a:pPr>
            <a:r>
              <a:rPr b="1" i="0" lang="en-US" sz="1600" u="none" cap="none" strike="noStrike">
                <a:solidFill>
                  <a:srgbClr val="1B2A34"/>
                </a:solidFill>
                <a:latin typeface="Calibri"/>
                <a:ea typeface="Calibri"/>
                <a:cs typeface="Calibri"/>
                <a:sym typeface="Calibri"/>
              </a:rPr>
              <a:t>Investors</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A34"/>
              </a:buClr>
              <a:buSzPts val="1200"/>
              <a:buFont typeface="Calibri"/>
              <a:buNone/>
            </a:pPr>
            <a:r>
              <a:rPr b="0" i="0" lang="en-US" sz="1200" u="none" cap="none" strike="noStrike">
                <a:solidFill>
                  <a:srgbClr val="1B2A34"/>
                </a:solidFill>
                <a:latin typeface="Calibri"/>
                <a:ea typeface="Calibri"/>
                <a:cs typeface="Calibri"/>
                <a:sym typeface="Calibri"/>
              </a:rPr>
              <a:t>QIBs and Reg S buyers of A-1, M-1, M-2</a:t>
            </a:r>
            <a:endParaRPr b="0" i="0" sz="1600" u="none" cap="none" strike="noStrike">
              <a:solidFill>
                <a:schemeClr val="dk1"/>
              </a:solidFill>
              <a:latin typeface="Calibri"/>
              <a:ea typeface="Calibri"/>
              <a:cs typeface="Calibri"/>
              <a:sym typeface="Calibri"/>
            </a:endParaRPr>
          </a:p>
        </p:txBody>
      </p:sp>
      <p:sp>
        <p:nvSpPr>
          <p:cNvPr id="48" name="Google Shape;48;p7"/>
          <p:cNvSpPr/>
          <p:nvPr/>
        </p:nvSpPr>
        <p:spPr>
          <a:xfrm>
            <a:off x="3931920" y="1828800"/>
            <a:ext cx="2651760" cy="1737360"/>
          </a:xfrm>
          <a:prstGeom prst="roundRect">
            <a:avLst>
              <a:gd fmla="val 4211" name="adj"/>
            </a:avLst>
          </a:prstGeom>
          <a:solidFill>
            <a:srgbClr val="14374A"/>
          </a:solidFill>
          <a:ln cap="flat" cmpd="sng" w="12700">
            <a:solidFill>
              <a:srgbClr val="1437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txBox="1"/>
          <p:nvPr/>
        </p:nvSpPr>
        <p:spPr>
          <a:xfrm>
            <a:off x="4069080" y="1828800"/>
            <a:ext cx="2377440" cy="1737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STACR REMIC Trust</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Delaware trust; holds note proceeds in short-term government assets (BlackRock, BNY Mellon)</a:t>
            </a:r>
            <a:endParaRPr b="0" i="0" sz="1600" u="none" cap="none" strike="noStrike">
              <a:solidFill>
                <a:schemeClr val="dk1"/>
              </a:solidFill>
              <a:latin typeface="Calibri"/>
              <a:ea typeface="Calibri"/>
              <a:cs typeface="Calibri"/>
              <a:sym typeface="Calibri"/>
            </a:endParaRPr>
          </a:p>
        </p:txBody>
      </p:sp>
      <p:sp>
        <p:nvSpPr>
          <p:cNvPr id="50" name="Google Shape;50;p7"/>
          <p:cNvSpPr/>
          <p:nvPr/>
        </p:nvSpPr>
        <p:spPr>
          <a:xfrm>
            <a:off x="7772400" y="2103120"/>
            <a:ext cx="2194560" cy="1188720"/>
          </a:xfrm>
          <a:prstGeom prst="roundRect">
            <a:avLst>
              <a:gd fmla="val 6154" name="adj"/>
            </a:avLst>
          </a:prstGeom>
          <a:solidFill>
            <a:srgbClr val="EEF3F5"/>
          </a:solidFill>
          <a:ln cap="flat" cmpd="sng" w="12700">
            <a:solidFill>
              <a:srgbClr val="EEF3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txBox="1"/>
          <p:nvPr/>
        </p:nvSpPr>
        <p:spPr>
          <a:xfrm>
            <a:off x="7909560" y="2103120"/>
            <a:ext cx="192024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4"/>
              </a:buClr>
              <a:buSzPts val="1600"/>
              <a:buFont typeface="Calibri"/>
              <a:buNone/>
            </a:pPr>
            <a:r>
              <a:rPr b="1" i="0" lang="en-US" sz="1600" u="none" cap="none" strike="noStrike">
                <a:solidFill>
                  <a:srgbClr val="1B2A34"/>
                </a:solidFill>
                <a:latin typeface="Calibri"/>
                <a:ea typeface="Calibri"/>
                <a:cs typeface="Calibri"/>
                <a:sym typeface="Calibri"/>
              </a:rPr>
              <a:t>Freddie Mac</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B2A34"/>
              </a:buClr>
              <a:buSzPts val="1200"/>
              <a:buFont typeface="Calibri"/>
              <a:buNone/>
            </a:pPr>
            <a:r>
              <a:rPr b="0" i="0" lang="en-US" sz="1200" u="none" cap="none" strike="noStrike">
                <a:solidFill>
                  <a:srgbClr val="1B2A34"/>
                </a:solidFill>
                <a:latin typeface="Calibri"/>
                <a:ea typeface="Calibri"/>
                <a:cs typeface="Calibri"/>
                <a:sym typeface="Calibri"/>
              </a:rPr>
              <a:t>Protection buyer, sponsor, administrator</a:t>
            </a:r>
            <a:endParaRPr b="0" i="0" sz="1600" u="none" cap="none" strike="noStrike">
              <a:solidFill>
                <a:schemeClr val="dk1"/>
              </a:solidFill>
              <a:latin typeface="Calibri"/>
              <a:ea typeface="Calibri"/>
              <a:cs typeface="Calibri"/>
              <a:sym typeface="Calibri"/>
            </a:endParaRPr>
          </a:p>
        </p:txBody>
      </p:sp>
      <p:sp>
        <p:nvSpPr>
          <p:cNvPr id="52" name="Google Shape;52;p7"/>
          <p:cNvSpPr/>
          <p:nvPr/>
        </p:nvSpPr>
        <p:spPr>
          <a:xfrm>
            <a:off x="3931920" y="4434840"/>
            <a:ext cx="2651760" cy="1188720"/>
          </a:xfrm>
          <a:prstGeom prst="roundRect">
            <a:avLst>
              <a:gd fmla="val 6154" name="adj"/>
            </a:avLst>
          </a:prstGeom>
          <a:solidFill>
            <a:srgbClr val="1F6F8B"/>
          </a:solidFill>
          <a:ln cap="flat" cmpd="sng" w="12700">
            <a:solidFill>
              <a:srgbClr val="1F6F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txBox="1"/>
          <p:nvPr/>
        </p:nvSpPr>
        <p:spPr>
          <a:xfrm>
            <a:off x="4069080" y="4434840"/>
            <a:ext cx="237744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Reference pool</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$22.78bn, 64,434 Freddie loans at cut-off</a:t>
            </a:r>
            <a:endParaRPr b="0" i="0" sz="1600" u="none" cap="none" strike="noStrike">
              <a:solidFill>
                <a:schemeClr val="dk1"/>
              </a:solidFill>
              <a:latin typeface="Calibri"/>
              <a:ea typeface="Calibri"/>
              <a:cs typeface="Calibri"/>
              <a:sym typeface="Calibri"/>
            </a:endParaRPr>
          </a:p>
        </p:txBody>
      </p:sp>
      <p:cxnSp>
        <p:nvCxnSpPr>
          <p:cNvPr id="54" name="Google Shape;54;p7"/>
          <p:cNvCxnSpPr/>
          <p:nvPr/>
        </p:nvCxnSpPr>
        <p:spPr>
          <a:xfrm>
            <a:off x="2788920" y="2423160"/>
            <a:ext cx="1097280" cy="0"/>
          </a:xfrm>
          <a:prstGeom prst="straightConnector1">
            <a:avLst/>
          </a:prstGeom>
          <a:noFill/>
          <a:ln cap="flat" cmpd="sng" w="22225">
            <a:solidFill>
              <a:srgbClr val="5A6B78"/>
            </a:solidFill>
            <a:prstDash val="solid"/>
            <a:round/>
            <a:headEnd len="sm" w="sm" type="none"/>
            <a:tailEnd len="med" w="med" type="triangle"/>
          </a:ln>
        </p:spPr>
      </p:cxnSp>
      <p:cxnSp>
        <p:nvCxnSpPr>
          <p:cNvPr id="55" name="Google Shape;55;p7"/>
          <p:cNvCxnSpPr/>
          <p:nvPr/>
        </p:nvCxnSpPr>
        <p:spPr>
          <a:xfrm rot="10800000">
            <a:off x="2788920" y="2971800"/>
            <a:ext cx="1097280" cy="0"/>
          </a:xfrm>
          <a:prstGeom prst="straightConnector1">
            <a:avLst/>
          </a:prstGeom>
          <a:noFill/>
          <a:ln cap="flat" cmpd="sng" w="22225">
            <a:solidFill>
              <a:srgbClr val="5A6B78"/>
            </a:solidFill>
            <a:prstDash val="solid"/>
            <a:round/>
            <a:headEnd len="sm" w="sm" type="none"/>
            <a:tailEnd len="med" w="med" type="triangle"/>
          </a:ln>
        </p:spPr>
      </p:cxnSp>
      <p:sp>
        <p:nvSpPr>
          <p:cNvPr id="56" name="Google Shape;56;p7"/>
          <p:cNvSpPr txBox="1"/>
          <p:nvPr/>
        </p:nvSpPr>
        <p:spPr>
          <a:xfrm>
            <a:off x="2743200" y="2103120"/>
            <a:ext cx="11887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$627.5mm at closing</a:t>
            </a:r>
            <a:endParaRPr b="0" i="0" sz="1000" u="none" cap="none" strike="noStrike">
              <a:solidFill>
                <a:schemeClr val="dk1"/>
              </a:solidFill>
              <a:latin typeface="Calibri"/>
              <a:ea typeface="Calibri"/>
              <a:cs typeface="Calibri"/>
              <a:sym typeface="Calibri"/>
            </a:endParaRPr>
          </a:p>
        </p:txBody>
      </p:sp>
      <p:sp>
        <p:nvSpPr>
          <p:cNvPr id="57" name="Google Shape;57;p7"/>
          <p:cNvSpPr txBox="1"/>
          <p:nvPr/>
        </p:nvSpPr>
        <p:spPr>
          <a:xfrm>
            <a:off x="2743200" y="3017520"/>
            <a:ext cx="11887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SOFR + spread, principal</a:t>
            </a:r>
            <a:endParaRPr b="0" i="0" sz="1000" u="none" cap="none" strike="noStrike">
              <a:solidFill>
                <a:schemeClr val="dk1"/>
              </a:solidFill>
              <a:latin typeface="Calibri"/>
              <a:ea typeface="Calibri"/>
              <a:cs typeface="Calibri"/>
              <a:sym typeface="Calibri"/>
            </a:endParaRPr>
          </a:p>
        </p:txBody>
      </p:sp>
      <p:cxnSp>
        <p:nvCxnSpPr>
          <p:cNvPr id="58" name="Google Shape;58;p7"/>
          <p:cNvCxnSpPr/>
          <p:nvPr/>
        </p:nvCxnSpPr>
        <p:spPr>
          <a:xfrm rot="10800000">
            <a:off x="6629400" y="2423160"/>
            <a:ext cx="1097280" cy="0"/>
          </a:xfrm>
          <a:prstGeom prst="straightConnector1">
            <a:avLst/>
          </a:prstGeom>
          <a:noFill/>
          <a:ln cap="flat" cmpd="sng" w="22225">
            <a:solidFill>
              <a:srgbClr val="5A6B78"/>
            </a:solidFill>
            <a:prstDash val="solid"/>
            <a:round/>
            <a:headEnd len="sm" w="sm" type="none"/>
            <a:tailEnd len="med" w="med" type="triangle"/>
          </a:ln>
        </p:spPr>
      </p:cxnSp>
      <p:cxnSp>
        <p:nvCxnSpPr>
          <p:cNvPr id="59" name="Google Shape;59;p7"/>
          <p:cNvCxnSpPr/>
          <p:nvPr/>
        </p:nvCxnSpPr>
        <p:spPr>
          <a:xfrm>
            <a:off x="6629400" y="2971800"/>
            <a:ext cx="1097280" cy="0"/>
          </a:xfrm>
          <a:prstGeom prst="straightConnector1">
            <a:avLst/>
          </a:prstGeom>
          <a:noFill/>
          <a:ln cap="flat" cmpd="sng" w="22225">
            <a:solidFill>
              <a:srgbClr val="5A6B78"/>
            </a:solidFill>
            <a:prstDash val="solid"/>
            <a:round/>
            <a:headEnd len="sm" w="sm" type="none"/>
            <a:tailEnd len="med" w="med" type="triangle"/>
          </a:ln>
        </p:spPr>
      </p:cxnSp>
      <p:sp>
        <p:nvSpPr>
          <p:cNvPr id="60" name="Google Shape;60;p7"/>
          <p:cNvSpPr txBox="1"/>
          <p:nvPr/>
        </p:nvSpPr>
        <p:spPr>
          <a:xfrm>
            <a:off x="6583680" y="205740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Spread (Transfer Amount)</a:t>
            </a:r>
            <a:endParaRPr b="0" i="0" sz="1000" u="none" cap="none" strike="noStrike">
              <a:solidFill>
                <a:schemeClr val="dk1"/>
              </a:solidFill>
              <a:latin typeface="Calibri"/>
              <a:ea typeface="Calibri"/>
              <a:cs typeface="Calibri"/>
              <a:sym typeface="Calibri"/>
            </a:endParaRPr>
          </a:p>
        </p:txBody>
      </p:sp>
      <p:sp>
        <p:nvSpPr>
          <p:cNvPr id="61" name="Google Shape;61;p7"/>
          <p:cNvSpPr txBox="1"/>
          <p:nvPr/>
        </p:nvSpPr>
        <p:spPr>
          <a:xfrm>
            <a:off x="6583680" y="3017520"/>
            <a:ext cx="11887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Write-downs (Return Amount)</a:t>
            </a:r>
            <a:endParaRPr b="0" i="0" sz="1000" u="none" cap="none" strike="noStrike">
              <a:solidFill>
                <a:schemeClr val="dk1"/>
              </a:solidFill>
              <a:latin typeface="Calibri"/>
              <a:ea typeface="Calibri"/>
              <a:cs typeface="Calibri"/>
              <a:sym typeface="Calibri"/>
            </a:endParaRPr>
          </a:p>
        </p:txBody>
      </p:sp>
      <p:cxnSp>
        <p:nvCxnSpPr>
          <p:cNvPr id="62" name="Google Shape;62;p7"/>
          <p:cNvCxnSpPr/>
          <p:nvPr/>
        </p:nvCxnSpPr>
        <p:spPr>
          <a:xfrm>
            <a:off x="5257800" y="3611880"/>
            <a:ext cx="0" cy="777240"/>
          </a:xfrm>
          <a:prstGeom prst="straightConnector1">
            <a:avLst/>
          </a:prstGeom>
          <a:noFill/>
          <a:ln cap="flat" cmpd="sng" w="22225">
            <a:solidFill>
              <a:srgbClr val="5A6B78"/>
            </a:solidFill>
            <a:prstDash val="dash"/>
            <a:round/>
            <a:headEnd len="med" w="med" type="triangle"/>
            <a:tailEnd len="med" w="med" type="triangle"/>
          </a:ln>
        </p:spPr>
      </p:cxnSp>
      <p:sp>
        <p:nvSpPr>
          <p:cNvPr id="63" name="Google Shape;63;p7"/>
          <p:cNvSpPr txBox="1"/>
          <p:nvPr/>
        </p:nvSpPr>
        <p:spPr>
          <a:xfrm>
            <a:off x="5349240" y="3794760"/>
            <a:ext cx="2194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Losses on the pool drive write-downs</a:t>
            </a:r>
            <a:endParaRPr b="0" i="0" sz="1000" u="none" cap="none" strike="noStrike">
              <a:solidFill>
                <a:schemeClr val="dk1"/>
              </a:solidFill>
              <a:latin typeface="Calibri"/>
              <a:ea typeface="Calibri"/>
              <a:cs typeface="Calibri"/>
              <a:sym typeface="Calibri"/>
            </a:endParaRPr>
          </a:p>
        </p:txBody>
      </p:sp>
      <p:sp>
        <p:nvSpPr>
          <p:cNvPr id="64" name="Google Shape;64;p7"/>
          <p:cNvSpPr txBox="1"/>
          <p:nvPr/>
        </p:nvSpPr>
        <p:spPr>
          <a:xfrm>
            <a:off x="10104120" y="1600200"/>
            <a:ext cx="1508760" cy="3291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Closing </a:t>
            </a:r>
            <a:r>
              <a:rPr b="0" i="0" lang="en-US" sz="1200" u="none" cap="none" strike="noStrike">
                <a:solidFill>
                  <a:schemeClr val="dk1"/>
                </a:solidFill>
                <a:latin typeface="Calibri"/>
                <a:ea typeface="Calibri"/>
                <a:cs typeface="Calibri"/>
                <a:sym typeface="Calibri"/>
              </a:rPr>
              <a:t>Feb 17, 2026</a:t>
            </a:r>
            <a:endParaRPr b="0" i="0" sz="12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Call </a:t>
            </a:r>
            <a:r>
              <a:rPr b="0" i="0" lang="en-US" sz="1200" u="none" cap="none" strike="noStrike">
                <a:solidFill>
                  <a:schemeClr val="dk1"/>
                </a:solidFill>
                <a:latin typeface="Calibri"/>
                <a:ea typeface="Calibri"/>
                <a:cs typeface="Calibri"/>
                <a:sym typeface="Calibri"/>
              </a:rPr>
              <a:t>from Feb 2031, or at 10% of cut-off</a:t>
            </a:r>
            <a:endParaRPr b="0" i="0" sz="12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Maturity </a:t>
            </a:r>
            <a:r>
              <a:rPr b="0" i="0" lang="en-US" sz="1200" u="none" cap="none" strike="noStrike">
                <a:solidFill>
                  <a:schemeClr val="dk1"/>
                </a:solidFill>
                <a:latin typeface="Calibri"/>
                <a:ea typeface="Calibri"/>
                <a:cs typeface="Calibri"/>
                <a:sym typeface="Calibri"/>
              </a:rPr>
              <a:t>Feb 2046</a:t>
            </a:r>
            <a:endParaRPr b="0" i="0" sz="12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Coupon </a:t>
            </a:r>
            <a:r>
              <a:rPr b="0" i="0" lang="en-US" sz="1200" u="none" cap="none" strike="noStrike">
                <a:solidFill>
                  <a:schemeClr val="dk1"/>
                </a:solidFill>
                <a:latin typeface="Calibri"/>
                <a:ea typeface="Calibri"/>
                <a:cs typeface="Calibri"/>
                <a:sym typeface="Calibri"/>
              </a:rPr>
              <a:t>30-day avg SOFR + spread</a:t>
            </a:r>
            <a:endParaRPr b="0" i="0" sz="1200" u="none" cap="none" strike="noStrike">
              <a:solidFill>
                <a:schemeClr val="dk1"/>
              </a:solidFill>
              <a:latin typeface="Calibri"/>
              <a:ea typeface="Calibri"/>
              <a:cs typeface="Calibri"/>
              <a:sym typeface="Calibri"/>
            </a:endParaRPr>
          </a:p>
        </p:txBody>
      </p:sp>
      <p:sp>
        <p:nvSpPr>
          <p:cNvPr id="65" name="Google Shape;65;p7"/>
          <p:cNvSpPr txBox="1"/>
          <p:nvPr/>
        </p:nvSpPr>
        <p:spPr>
          <a:xfrm>
            <a:off x="6903720" y="4206240"/>
            <a:ext cx="47091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Two risks for investors: </a:t>
            </a:r>
            <a:r>
              <a:rPr b="0" i="0" lang="en-US" sz="1200" u="none" cap="none" strike="noStrike">
                <a:solidFill>
                  <a:schemeClr val="dk1"/>
                </a:solidFill>
                <a:latin typeface="Calibri"/>
                <a:ea typeface="Calibri"/>
                <a:cs typeface="Calibri"/>
                <a:sym typeface="Calibri"/>
              </a:rPr>
              <a:t>credit risk on the reference pool, which drives pricing, and counterparty risk on Freddie Mac (in conservatorship since 2008) for the monthly spread.</a:t>
            </a:r>
            <a:endParaRPr b="0" i="0" sz="12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Principal is ring-fenced </a:t>
            </a:r>
            <a:r>
              <a:rPr b="0" i="0" lang="en-US" sz="1200" u="none" cap="none" strike="noStrike">
                <a:solidFill>
                  <a:schemeClr val="dk1"/>
                </a:solidFill>
                <a:latin typeface="Calibri"/>
                <a:ea typeface="Calibri"/>
                <a:cs typeface="Calibri"/>
                <a:sym typeface="Calibri"/>
              </a:rPr>
              <a:t>in a bankruptcy-remote trust; noteholders never own the loans.</a:t>
            </a:r>
            <a:endParaRPr b="0" i="0" sz="1200" u="none" cap="none" strike="noStrike">
              <a:solidFill>
                <a:schemeClr val="dk1"/>
              </a:solidFill>
              <a:latin typeface="Calibri"/>
              <a:ea typeface="Calibri"/>
              <a:cs typeface="Calibri"/>
              <a:sym typeface="Calibri"/>
            </a:endParaRPr>
          </a:p>
        </p:txBody>
      </p:sp>
      <p:sp>
        <p:nvSpPr>
          <p:cNvPr id="66" name="Google Shape;66;p7"/>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8"/>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The tranche stack: offered notes span 1.90–4.80%</a:t>
            </a:r>
            <a:endParaRPr sz="2400"/>
          </a:p>
        </p:txBody>
      </p:sp>
      <p:graphicFrame>
        <p:nvGraphicFramePr>
          <p:cNvPr id="73" name="Google Shape;73;p8"/>
          <p:cNvGraphicFramePr/>
          <p:nvPr/>
        </p:nvGraphicFramePr>
        <p:xfrm>
          <a:off x="548640" y="1554480"/>
          <a:ext cx="3000000" cy="3000000"/>
        </p:xfrm>
        <a:graphic>
          <a:graphicData uri="http://schemas.openxmlformats.org/drawingml/2006/table">
            <a:tbl>
              <a:tblPr>
                <a:noFill/>
                <a:tableStyleId>{25C77E93-19F6-4675-AD0D-53BB172675F8}</a:tableStyleId>
              </a:tblPr>
              <a:tblGrid>
                <a:gridCol w="731525"/>
                <a:gridCol w="1143000"/>
                <a:gridCol w="868675"/>
                <a:gridCol w="960125"/>
                <a:gridCol w="1188725"/>
                <a:gridCol w="1508750"/>
                <a:gridCol w="1097275"/>
              </a:tblGrid>
              <a:tr h="40232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Class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Original ($mm)</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Attach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Detach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Coupon</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Rating (S&amp;P / DBRS)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Holder</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4023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A-H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21,687.7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4.800%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100.000%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Freddie Mac</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6F8B"/>
                        </a:buClr>
                        <a:buSzPts val="1200"/>
                        <a:buFont typeface="Calibri"/>
                        <a:buNone/>
                      </a:pPr>
                      <a:r>
                        <a:rPr b="1" lang="en-US" sz="1200" u="none" cap="none" strike="noStrike">
                          <a:solidFill>
                            <a:srgbClr val="1F6F8B"/>
                          </a:solidFill>
                        </a:rPr>
                        <a:t>A-1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275.9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3.525%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4.800%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SOFR + 0.85%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A+ / A (low)</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Investors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6F8B"/>
                        </a:buClr>
                        <a:buSzPts val="1200"/>
                        <a:buFont typeface="Calibri"/>
                        <a:buNone/>
                      </a:pPr>
                      <a:r>
                        <a:rPr b="1" lang="en-US" sz="1200" u="none" cap="none" strike="noStrike">
                          <a:solidFill>
                            <a:srgbClr val="1F6F8B"/>
                          </a:solidFill>
                        </a:rPr>
                        <a:t>M-1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275.9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2.250%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3.525%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SOFR + 1.00%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BBB+ / BBB (high)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Investors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6F8B"/>
                        </a:buClr>
                        <a:buSzPts val="1200"/>
                        <a:buFont typeface="Calibri"/>
                        <a:buNone/>
                      </a:pPr>
                      <a:r>
                        <a:rPr b="1" lang="en-US" sz="1200" u="none" cap="none" strike="noStrike">
                          <a:solidFill>
                            <a:srgbClr val="1F6F8B"/>
                          </a:solidFill>
                        </a:rPr>
                        <a:t>M-2A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37.85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2.075%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2.250%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SOFR + 1.30%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BBB+ / BBB</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Investors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F6F8B"/>
                        </a:buClr>
                        <a:buSzPts val="1200"/>
                        <a:buFont typeface="Calibri"/>
                        <a:buNone/>
                      </a:pPr>
                      <a:r>
                        <a:rPr b="1" lang="en-US" sz="1200" u="none" cap="none" strike="noStrike">
                          <a:solidFill>
                            <a:srgbClr val="1F6F8B"/>
                          </a:solidFill>
                        </a:rPr>
                        <a:t>M-2B</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37.85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1.900%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2.075%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SOFR + 1.30%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BBB+ / BBB (low)</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Investors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B-1H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102.5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1.450%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1.900%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Freddie Mac</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B-2H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273.4</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0.250%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1.450%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Freddie Mac</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B-3H</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57.0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0.000%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0.250%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n/a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Freddie Mac</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74" name="Google Shape;74;p8"/>
          <p:cNvSpPr txBox="1"/>
          <p:nvPr/>
        </p:nvSpPr>
        <p:spPr>
          <a:xfrm>
            <a:off x="548640" y="5349240"/>
            <a:ext cx="74980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Each offered class has an "H" twin (about 5% of the band) that Freddie Mac keeps and that shares losses and principal pro rata. Source: PPM Table 3.</a:t>
            </a:r>
            <a:endParaRPr b="0" i="0" sz="1100" u="none" cap="none" strike="noStrike">
              <a:solidFill>
                <a:schemeClr val="dk1"/>
              </a:solidFill>
              <a:latin typeface="Calibri"/>
              <a:ea typeface="Calibri"/>
              <a:cs typeface="Calibri"/>
              <a:sym typeface="Calibri"/>
            </a:endParaRPr>
          </a:p>
        </p:txBody>
      </p:sp>
      <p:sp>
        <p:nvSpPr>
          <p:cNvPr id="75" name="Google Shape;75;p8"/>
          <p:cNvSpPr/>
          <p:nvPr/>
        </p:nvSpPr>
        <p:spPr>
          <a:xfrm>
            <a:off x="8366760" y="1554480"/>
            <a:ext cx="3246120" cy="4617720"/>
          </a:xfrm>
          <a:prstGeom prst="roundRect">
            <a:avLst>
              <a:gd fmla="val 2254"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txBox="1"/>
          <p:nvPr/>
        </p:nvSpPr>
        <p:spPr>
          <a:xfrm>
            <a:off x="8595360" y="1691640"/>
            <a:ext cx="2788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After the Sep 2026 payment</a:t>
            </a:r>
            <a:endParaRPr b="0" i="0" sz="1600" u="none" cap="none" strike="noStrike">
              <a:solidFill>
                <a:schemeClr val="dk1"/>
              </a:solidFill>
              <a:latin typeface="Calibri"/>
              <a:ea typeface="Calibri"/>
              <a:cs typeface="Calibri"/>
              <a:sym typeface="Calibri"/>
            </a:endParaRPr>
          </a:p>
        </p:txBody>
      </p:sp>
      <p:sp>
        <p:nvSpPr>
          <p:cNvPr id="77" name="Google Shape;77;p8"/>
          <p:cNvSpPr txBox="1"/>
          <p:nvPr/>
        </p:nvSpPr>
        <p:spPr>
          <a:xfrm>
            <a:off x="8595360" y="2194560"/>
            <a:ext cx="731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A-1</a:t>
            </a:r>
            <a:endParaRPr b="0" i="0" sz="1400" u="none" cap="none" strike="noStrike">
              <a:solidFill>
                <a:schemeClr val="dk1"/>
              </a:solidFill>
              <a:latin typeface="Calibri"/>
              <a:ea typeface="Calibri"/>
              <a:cs typeface="Calibri"/>
              <a:sym typeface="Calibri"/>
            </a:endParaRPr>
          </a:p>
        </p:txBody>
      </p:sp>
      <p:sp>
        <p:nvSpPr>
          <p:cNvPr id="78" name="Google Shape;78;p8"/>
          <p:cNvSpPr txBox="1"/>
          <p:nvPr/>
        </p:nvSpPr>
        <p:spPr>
          <a:xfrm>
            <a:off x="9281160" y="2194560"/>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$203.5mm</a:t>
            </a:r>
            <a:endParaRPr b="0" i="0" sz="1600" u="none" cap="none" strike="noStrike">
              <a:solidFill>
                <a:schemeClr val="dk1"/>
              </a:solidFill>
              <a:latin typeface="Calibri"/>
              <a:ea typeface="Calibri"/>
              <a:cs typeface="Calibri"/>
              <a:sym typeface="Calibri"/>
            </a:endParaRPr>
          </a:p>
        </p:txBody>
      </p:sp>
      <p:sp>
        <p:nvSpPr>
          <p:cNvPr id="79" name="Google Shape;79;p8"/>
          <p:cNvSpPr txBox="1"/>
          <p:nvPr/>
        </p:nvSpPr>
        <p:spPr>
          <a:xfrm>
            <a:off x="10744200" y="2194560"/>
            <a:ext cx="777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factor 0.7375</a:t>
            </a:r>
            <a:endParaRPr b="0" i="0" sz="1000" u="none" cap="none" strike="noStrike">
              <a:solidFill>
                <a:schemeClr val="dk1"/>
              </a:solidFill>
              <a:latin typeface="Calibri"/>
              <a:ea typeface="Calibri"/>
              <a:cs typeface="Calibri"/>
              <a:sym typeface="Calibri"/>
            </a:endParaRPr>
          </a:p>
        </p:txBody>
      </p:sp>
      <p:sp>
        <p:nvSpPr>
          <p:cNvPr id="80" name="Google Shape;80;p8"/>
          <p:cNvSpPr txBox="1"/>
          <p:nvPr/>
        </p:nvSpPr>
        <p:spPr>
          <a:xfrm>
            <a:off x="8595360" y="2880360"/>
            <a:ext cx="731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M-1</a:t>
            </a:r>
            <a:endParaRPr b="0" i="0" sz="1400" u="none" cap="none" strike="noStrike">
              <a:solidFill>
                <a:schemeClr val="dk1"/>
              </a:solidFill>
              <a:latin typeface="Calibri"/>
              <a:ea typeface="Calibri"/>
              <a:cs typeface="Calibri"/>
              <a:sym typeface="Calibri"/>
            </a:endParaRPr>
          </a:p>
        </p:txBody>
      </p:sp>
      <p:sp>
        <p:nvSpPr>
          <p:cNvPr id="81" name="Google Shape;81;p8"/>
          <p:cNvSpPr txBox="1"/>
          <p:nvPr/>
        </p:nvSpPr>
        <p:spPr>
          <a:xfrm>
            <a:off x="9281160" y="2880360"/>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$157.8mm</a:t>
            </a:r>
            <a:endParaRPr b="0" i="0" sz="1600" u="none" cap="none" strike="noStrike">
              <a:solidFill>
                <a:schemeClr val="dk1"/>
              </a:solidFill>
              <a:latin typeface="Calibri"/>
              <a:ea typeface="Calibri"/>
              <a:cs typeface="Calibri"/>
              <a:sym typeface="Calibri"/>
            </a:endParaRPr>
          </a:p>
        </p:txBody>
      </p:sp>
      <p:sp>
        <p:nvSpPr>
          <p:cNvPr id="82" name="Google Shape;82;p8"/>
          <p:cNvSpPr txBox="1"/>
          <p:nvPr/>
        </p:nvSpPr>
        <p:spPr>
          <a:xfrm>
            <a:off x="10744200" y="2880360"/>
            <a:ext cx="777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factor 0.5720</a:t>
            </a:r>
            <a:endParaRPr b="0" i="0" sz="1000" u="none" cap="none" strike="noStrike">
              <a:solidFill>
                <a:schemeClr val="dk1"/>
              </a:solidFill>
              <a:latin typeface="Calibri"/>
              <a:ea typeface="Calibri"/>
              <a:cs typeface="Calibri"/>
              <a:sym typeface="Calibri"/>
            </a:endParaRPr>
          </a:p>
        </p:txBody>
      </p:sp>
      <p:sp>
        <p:nvSpPr>
          <p:cNvPr id="83" name="Google Shape;83;p8"/>
          <p:cNvSpPr txBox="1"/>
          <p:nvPr/>
        </p:nvSpPr>
        <p:spPr>
          <a:xfrm>
            <a:off x="8595360" y="3566160"/>
            <a:ext cx="731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M-2A</a:t>
            </a:r>
            <a:endParaRPr b="0" i="0" sz="1400" u="none" cap="none" strike="noStrike">
              <a:solidFill>
                <a:schemeClr val="dk1"/>
              </a:solidFill>
              <a:latin typeface="Calibri"/>
              <a:ea typeface="Calibri"/>
              <a:cs typeface="Calibri"/>
              <a:sym typeface="Calibri"/>
            </a:endParaRPr>
          </a:p>
        </p:txBody>
      </p:sp>
      <p:sp>
        <p:nvSpPr>
          <p:cNvPr id="84" name="Google Shape;84;p8"/>
          <p:cNvSpPr txBox="1"/>
          <p:nvPr/>
        </p:nvSpPr>
        <p:spPr>
          <a:xfrm>
            <a:off x="9281160" y="3566160"/>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$37.85mm</a:t>
            </a:r>
            <a:endParaRPr b="0" i="0" sz="1600" u="none" cap="none" strike="noStrike">
              <a:solidFill>
                <a:schemeClr val="dk1"/>
              </a:solidFill>
              <a:latin typeface="Calibri"/>
              <a:ea typeface="Calibri"/>
              <a:cs typeface="Calibri"/>
              <a:sym typeface="Calibri"/>
            </a:endParaRPr>
          </a:p>
        </p:txBody>
      </p:sp>
      <p:sp>
        <p:nvSpPr>
          <p:cNvPr id="85" name="Google Shape;85;p8"/>
          <p:cNvSpPr txBox="1"/>
          <p:nvPr/>
        </p:nvSpPr>
        <p:spPr>
          <a:xfrm>
            <a:off x="10744200" y="3566160"/>
            <a:ext cx="777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factor 1.0000</a:t>
            </a:r>
            <a:endParaRPr b="0" i="0" sz="1000" u="none" cap="none" strike="noStrike">
              <a:solidFill>
                <a:schemeClr val="dk1"/>
              </a:solidFill>
              <a:latin typeface="Calibri"/>
              <a:ea typeface="Calibri"/>
              <a:cs typeface="Calibri"/>
              <a:sym typeface="Calibri"/>
            </a:endParaRPr>
          </a:p>
        </p:txBody>
      </p:sp>
      <p:sp>
        <p:nvSpPr>
          <p:cNvPr id="86" name="Google Shape;86;p8"/>
          <p:cNvSpPr txBox="1"/>
          <p:nvPr/>
        </p:nvSpPr>
        <p:spPr>
          <a:xfrm>
            <a:off x="8595360" y="4251960"/>
            <a:ext cx="7315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M-2B</a:t>
            </a:r>
            <a:endParaRPr b="0" i="0" sz="1400" u="none" cap="none" strike="noStrike">
              <a:solidFill>
                <a:schemeClr val="dk1"/>
              </a:solidFill>
              <a:latin typeface="Calibri"/>
              <a:ea typeface="Calibri"/>
              <a:cs typeface="Calibri"/>
              <a:sym typeface="Calibri"/>
            </a:endParaRPr>
          </a:p>
        </p:txBody>
      </p:sp>
      <p:sp>
        <p:nvSpPr>
          <p:cNvPr id="87" name="Google Shape;87;p8"/>
          <p:cNvSpPr txBox="1"/>
          <p:nvPr/>
        </p:nvSpPr>
        <p:spPr>
          <a:xfrm>
            <a:off x="9281160" y="4251960"/>
            <a:ext cx="1463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$37.85mm</a:t>
            </a:r>
            <a:endParaRPr b="0" i="0" sz="1600" u="none" cap="none" strike="noStrike">
              <a:solidFill>
                <a:schemeClr val="dk1"/>
              </a:solidFill>
              <a:latin typeface="Calibri"/>
              <a:ea typeface="Calibri"/>
              <a:cs typeface="Calibri"/>
              <a:sym typeface="Calibri"/>
            </a:endParaRPr>
          </a:p>
        </p:txBody>
      </p:sp>
      <p:sp>
        <p:nvSpPr>
          <p:cNvPr id="88" name="Google Shape;88;p8"/>
          <p:cNvSpPr txBox="1"/>
          <p:nvPr/>
        </p:nvSpPr>
        <p:spPr>
          <a:xfrm>
            <a:off x="10744200" y="4251960"/>
            <a:ext cx="777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factor 1.0000</a:t>
            </a:r>
            <a:endParaRPr b="0" i="0" sz="1000" u="none" cap="none" strike="noStrike">
              <a:solidFill>
                <a:schemeClr val="dk1"/>
              </a:solidFill>
              <a:latin typeface="Calibri"/>
              <a:ea typeface="Calibri"/>
              <a:cs typeface="Calibri"/>
              <a:sym typeface="Calibri"/>
            </a:endParaRPr>
          </a:p>
        </p:txBody>
      </p:sp>
      <p:sp>
        <p:nvSpPr>
          <p:cNvPr id="89" name="Google Shape;89;p8"/>
          <p:cNvSpPr txBox="1"/>
          <p:nvPr/>
        </p:nvSpPr>
        <p:spPr>
          <a:xfrm>
            <a:off x="8595360" y="5029200"/>
            <a:ext cx="2788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September factors validated against Bloomberg; each H twin uses its class's factor and A-H is the residual. Pool: $19.25bn.</a:t>
            </a:r>
            <a:endParaRPr b="0" i="0" sz="1100" u="none" cap="none" strike="noStrike">
              <a:solidFill>
                <a:schemeClr val="dk1"/>
              </a:solidFill>
              <a:latin typeface="Calibri"/>
              <a:ea typeface="Calibri"/>
              <a:cs typeface="Calibri"/>
              <a:sym typeface="Calibri"/>
            </a:endParaRPr>
          </a:p>
        </p:txBody>
      </p:sp>
      <p:sp>
        <p:nvSpPr>
          <p:cNvPr id="90" name="Google Shape;90;p8"/>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Losses go bottom up; principal splits in two buckets</a:t>
            </a:r>
            <a:endParaRPr sz="2400"/>
          </a:p>
        </p:txBody>
      </p:sp>
      <p:sp>
        <p:nvSpPr>
          <p:cNvPr id="97" name="Google Shape;97;p9"/>
          <p:cNvSpPr/>
          <p:nvPr/>
        </p:nvSpPr>
        <p:spPr>
          <a:xfrm>
            <a:off x="548640" y="1508760"/>
            <a:ext cx="3566160" cy="4663440"/>
          </a:xfrm>
          <a:prstGeom prst="roundRect">
            <a:avLst>
              <a:gd fmla="val 205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txBox="1"/>
          <p:nvPr/>
        </p:nvSpPr>
        <p:spPr>
          <a:xfrm>
            <a:off x="777240" y="16916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Losses: bottom up</a:t>
            </a:r>
            <a:endParaRPr b="0" i="0" sz="1800" u="none" cap="none" strike="noStrike">
              <a:solidFill>
                <a:schemeClr val="dk1"/>
              </a:solidFill>
              <a:latin typeface="Calibri"/>
              <a:ea typeface="Calibri"/>
              <a:cs typeface="Calibri"/>
              <a:sym typeface="Calibri"/>
            </a:endParaRPr>
          </a:p>
        </p:txBody>
      </p:sp>
      <p:sp>
        <p:nvSpPr>
          <p:cNvPr id="99" name="Google Shape;99;p9"/>
          <p:cNvSpPr txBox="1"/>
          <p:nvPr/>
        </p:nvSpPr>
        <p:spPr>
          <a:xfrm>
            <a:off x="777240" y="2240280"/>
            <a:ext cx="3108960" cy="37490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Actual loss: credit-event UPB + missed interest + prior forgiveness − net liquidation proceeds (incl. MI)</a:t>
            </a:r>
            <a:endParaRPr b="0" i="0" sz="1300" u="none" cap="none" strike="noStrike">
              <a:solidFill>
                <a:schemeClr val="dk1"/>
              </a:solidFill>
              <a:latin typeface="Calibri"/>
              <a:ea typeface="Calibri"/>
              <a:cs typeface="Calibri"/>
              <a:sym typeface="Calibri"/>
            </a:endParaRPr>
          </a:p>
          <a:p>
            <a:pPr indent="-177800" lvl="0" marL="177800" marR="0" rtl="0" algn="l">
              <a:spcBef>
                <a:spcPts val="10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Write-down order: B-3H, B-2H, B-1H, M-2B, M-2A, M-1, A-1</a:t>
            </a:r>
            <a:endParaRPr b="0" i="0" sz="1300" u="none" cap="none" strike="noStrike">
              <a:solidFill>
                <a:schemeClr val="dk1"/>
              </a:solidFill>
              <a:latin typeface="Calibri"/>
              <a:ea typeface="Calibri"/>
              <a:cs typeface="Calibri"/>
              <a:sym typeface="Calibri"/>
            </a:endParaRPr>
          </a:p>
          <a:p>
            <a:pPr indent="-177800" lvl="0" marL="177800" marR="0" rtl="0" algn="l">
              <a:spcBef>
                <a:spcPts val="10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Modification losses cut interest first, then principal</a:t>
            </a:r>
            <a:endParaRPr b="0" i="0" sz="1300" u="none" cap="none" strike="noStrike">
              <a:solidFill>
                <a:schemeClr val="dk1"/>
              </a:solidFill>
              <a:latin typeface="Calibri"/>
              <a:ea typeface="Calibri"/>
              <a:cs typeface="Calibri"/>
              <a:sym typeface="Calibri"/>
            </a:endParaRPr>
          </a:p>
          <a:p>
            <a:pPr indent="-177800" lvl="0" marL="177800" marR="0" rtl="0" algn="l">
              <a:spcBef>
                <a:spcPts val="10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Recoveries write classes back up, top down</a:t>
            </a:r>
            <a:endParaRPr b="0" i="0" sz="1300" u="none" cap="none" strike="noStrike">
              <a:solidFill>
                <a:schemeClr val="dk1"/>
              </a:solidFill>
              <a:latin typeface="Calibri"/>
              <a:ea typeface="Calibri"/>
              <a:cs typeface="Calibri"/>
              <a:sym typeface="Calibri"/>
            </a:endParaRPr>
          </a:p>
        </p:txBody>
      </p:sp>
      <p:sp>
        <p:nvSpPr>
          <p:cNvPr id="100" name="Google Shape;100;p9"/>
          <p:cNvSpPr/>
          <p:nvPr/>
        </p:nvSpPr>
        <p:spPr>
          <a:xfrm>
            <a:off x="4297680" y="1508760"/>
            <a:ext cx="3566160" cy="4663440"/>
          </a:xfrm>
          <a:prstGeom prst="roundRect">
            <a:avLst>
              <a:gd fmla="val 205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txBox="1"/>
          <p:nvPr/>
        </p:nvSpPr>
        <p:spPr>
          <a:xfrm>
            <a:off x="4526280" y="16916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Principal: two buckets</a:t>
            </a:r>
            <a:endParaRPr b="0" i="0" sz="1800" u="none" cap="none" strike="noStrike">
              <a:solidFill>
                <a:schemeClr val="dk1"/>
              </a:solidFill>
              <a:latin typeface="Calibri"/>
              <a:ea typeface="Calibri"/>
              <a:cs typeface="Calibri"/>
              <a:sym typeface="Calibri"/>
            </a:endParaRPr>
          </a:p>
        </p:txBody>
      </p:sp>
      <p:sp>
        <p:nvSpPr>
          <p:cNvPr id="102" name="Google Shape;102;p9"/>
          <p:cNvSpPr txBox="1"/>
          <p:nvPr/>
        </p:nvSpPr>
        <p:spPr>
          <a:xfrm>
            <a:off x="4526280" y="2240280"/>
            <a:ext cx="3108960" cy="37490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Senior share = senior balances / pool; 96.475% at closing</a:t>
            </a:r>
            <a:endParaRPr b="0" i="0" sz="1300" u="none" cap="none" strike="noStrike">
              <a:solidFill>
                <a:schemeClr val="dk1"/>
              </a:solidFill>
              <a:latin typeface="Calibri"/>
              <a:ea typeface="Calibri"/>
              <a:cs typeface="Calibri"/>
              <a:sym typeface="Calibri"/>
            </a:endParaRPr>
          </a:p>
          <a:p>
            <a:pPr indent="-177800" lvl="0" marL="177800" marR="0" rtl="0" algn="l">
              <a:spcBef>
                <a:spcPts val="10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A-1 fast-pay: 3.75% of its band a month in months 1–12, then 1.50% to month 36</a:t>
            </a:r>
            <a:endParaRPr b="0" i="0" sz="1300" u="none" cap="none" strike="noStrike">
              <a:solidFill>
                <a:schemeClr val="dk1"/>
              </a:solidFill>
              <a:latin typeface="Calibri"/>
              <a:ea typeface="Calibri"/>
              <a:cs typeface="Calibri"/>
              <a:sym typeface="Calibri"/>
            </a:endParaRPr>
          </a:p>
          <a:p>
            <a:pPr indent="-177800" lvl="0" marL="177800" marR="0" rtl="0" algn="l">
              <a:spcBef>
                <a:spcPts val="10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Subordinate bucket pays M-1, then M-2A, then M-2B (sequential)</a:t>
            </a:r>
            <a:endParaRPr b="0" i="0" sz="1300" u="none" cap="none" strike="noStrike">
              <a:solidFill>
                <a:schemeClr val="dk1"/>
              </a:solidFill>
              <a:latin typeface="Calibri"/>
              <a:ea typeface="Calibri"/>
              <a:cs typeface="Calibri"/>
              <a:sym typeface="Calibri"/>
            </a:endParaRPr>
          </a:p>
          <a:p>
            <a:pPr indent="-177800" lvl="0" marL="177800" marR="0" rtl="0" algn="l">
              <a:spcBef>
                <a:spcPts val="10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If any trigger fails, all principal goes senior</a:t>
            </a:r>
            <a:endParaRPr b="0" i="0" sz="1300" u="none" cap="none" strike="noStrike">
              <a:solidFill>
                <a:schemeClr val="dk1"/>
              </a:solidFill>
              <a:latin typeface="Calibri"/>
              <a:ea typeface="Calibri"/>
              <a:cs typeface="Calibri"/>
              <a:sym typeface="Calibri"/>
            </a:endParaRPr>
          </a:p>
        </p:txBody>
      </p:sp>
      <p:sp>
        <p:nvSpPr>
          <p:cNvPr id="103" name="Google Shape;103;p9"/>
          <p:cNvSpPr txBox="1"/>
          <p:nvPr/>
        </p:nvSpPr>
        <p:spPr>
          <a:xfrm>
            <a:off x="8046720" y="150876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libri"/>
              <a:buNone/>
            </a:pPr>
            <a:r>
              <a:rPr b="1" i="0" lang="en-US" sz="1500" u="none" cap="none" strike="noStrike">
                <a:solidFill>
                  <a:schemeClr val="dk2"/>
                </a:solidFill>
                <a:latin typeface="Calibri"/>
                <a:ea typeface="Calibri"/>
                <a:cs typeface="Calibri"/>
                <a:sym typeface="Calibri"/>
              </a:rPr>
              <a:t>Triggers for M-1 and M-2 (all must pass)</a:t>
            </a:r>
            <a:endParaRPr b="0" i="0" sz="1500" u="none" cap="none" strike="noStrike">
              <a:solidFill>
                <a:schemeClr val="dk1"/>
              </a:solidFill>
              <a:latin typeface="Calibri"/>
              <a:ea typeface="Calibri"/>
              <a:cs typeface="Calibri"/>
              <a:sym typeface="Calibri"/>
            </a:endParaRPr>
          </a:p>
        </p:txBody>
      </p:sp>
      <p:graphicFrame>
        <p:nvGraphicFramePr>
          <p:cNvPr id="104" name="Google Shape;104;p9"/>
          <p:cNvGraphicFramePr/>
          <p:nvPr/>
        </p:nvGraphicFramePr>
        <p:xfrm>
          <a:off x="8046720" y="1920240"/>
          <a:ext cx="3000000" cy="3000000"/>
        </p:xfrm>
        <a:graphic>
          <a:graphicData uri="http://schemas.openxmlformats.org/drawingml/2006/table">
            <a:tbl>
              <a:tblPr>
                <a:noFill/>
                <a:tableStyleId>{25C77E93-19F6-4675-AD0D-53BB172675F8}</a:tableStyleId>
              </a:tblPr>
              <a:tblGrid>
                <a:gridCol w="1325875"/>
                <a:gridCol w="2240275"/>
              </a:tblGrid>
              <a:tr h="685800">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Test</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Passes if</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685800">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Minimum credit enhancement</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200"/>
                        <a:buFont typeface="Calibri"/>
                        <a:buNone/>
                      </a:pPr>
                      <a:r>
                        <a:rPr lang="en-US" sz="1200" u="none" cap="none" strike="noStrike">
                          <a:solidFill>
                            <a:srgbClr val="1B2A34"/>
                          </a:solidFill>
                        </a:rPr>
                        <a:t>Subordinate share ≥ 3.525%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685800">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Cumulative net loss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200"/>
                        <a:buFont typeface="Calibri"/>
                        <a:buNone/>
                      </a:pPr>
                      <a:r>
                        <a:rPr lang="en-US" sz="1200" u="none" cap="none" strike="noStrike">
                          <a:solidFill>
                            <a:srgbClr val="1B2A34"/>
                          </a:solidFill>
                        </a:rPr>
                        <a:t>Loss / cut-off ≤ 0.10% in year 1, +0.10% a year to 1.30%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685800">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Delinquency</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200"/>
                        <a:buFont typeface="Calibri"/>
                        <a:buNone/>
                      </a:pPr>
                      <a:r>
                        <a:rPr lang="en-US" sz="1200" u="none" cap="none" strike="noStrike">
                          <a:solidFill>
                            <a:srgbClr val="1B2A34"/>
                          </a:solidFill>
                        </a:rPr>
                        <a:t>6-month avg distressed balance &lt; 50% of subordinate cushion</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105" name="Google Shape;105;p9"/>
          <p:cNvSpPr txBox="1"/>
          <p:nvPr/>
        </p:nvSpPr>
        <p:spPr>
          <a:xfrm>
            <a:off x="8046720" y="4846320"/>
            <a:ext cx="3566160" cy="13716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minimum CE test passes with no cushion at closing, so any loss reaching the B tranches switches principal to senior</a:t>
            </a:r>
            <a:endParaRPr b="0" i="0" sz="12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A-1 loses its fast-pay schedule for good if cumulative loss ever exceeds 1.00%</a:t>
            </a:r>
            <a:endParaRPr b="0" i="0" sz="1200" u="none" cap="none" strike="noStrike">
              <a:solidFill>
                <a:schemeClr val="dk1"/>
              </a:solidFill>
              <a:latin typeface="Calibri"/>
              <a:ea typeface="Calibri"/>
              <a:cs typeface="Calibri"/>
              <a:sym typeface="Calibri"/>
            </a:endParaRPr>
          </a:p>
        </p:txBody>
      </p:sp>
      <p:sp>
        <p:nvSpPr>
          <p:cNvPr id="106" name="Google Shape;106;p9"/>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0"/>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Starting point: the September 2026 loan tape</a:t>
            </a:r>
            <a:endParaRPr sz="2400"/>
          </a:p>
        </p:txBody>
      </p:sp>
      <p:sp>
        <p:nvSpPr>
          <p:cNvPr id="113" name="Google Shape;113;p10"/>
          <p:cNvSpPr/>
          <p:nvPr/>
        </p:nvSpPr>
        <p:spPr>
          <a:xfrm>
            <a:off x="548640" y="1508760"/>
            <a:ext cx="173736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txBox="1"/>
          <p:nvPr/>
        </p:nvSpPr>
        <p:spPr>
          <a:xfrm>
            <a:off x="685800" y="1572768"/>
            <a:ext cx="1463040" cy="54864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Clr>
                <a:schemeClr val="accent1"/>
              </a:buClr>
              <a:buSzPts val="2100"/>
              <a:buFont typeface="Cambria"/>
              <a:buNone/>
            </a:pPr>
            <a:r>
              <a:rPr b="1" i="0" lang="en-US" sz="2100" u="none" cap="none" strike="noStrike">
                <a:solidFill>
                  <a:schemeClr val="accent1"/>
                </a:solidFill>
                <a:latin typeface="Cambria"/>
                <a:ea typeface="Cambria"/>
                <a:cs typeface="Cambria"/>
                <a:sym typeface="Cambria"/>
              </a:rPr>
              <a:t>56,433</a:t>
            </a:r>
            <a:endParaRPr b="0" i="0" sz="2100" u="none" cap="none" strike="noStrike">
              <a:solidFill>
                <a:schemeClr val="dk1"/>
              </a:solidFill>
              <a:latin typeface="Calibri"/>
              <a:ea typeface="Calibri"/>
              <a:cs typeface="Calibri"/>
              <a:sym typeface="Calibri"/>
            </a:endParaRPr>
          </a:p>
        </p:txBody>
      </p:sp>
      <p:sp>
        <p:nvSpPr>
          <p:cNvPr id="115" name="Google Shape;115;p10"/>
          <p:cNvSpPr txBox="1"/>
          <p:nvPr/>
        </p:nvSpPr>
        <p:spPr>
          <a:xfrm>
            <a:off x="685800" y="2167128"/>
            <a:ext cx="14630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loans on the Sep 2026 tape (64,434 at cut-off)</a:t>
            </a:r>
            <a:endParaRPr b="0" i="0" sz="1200" u="none" cap="none" strike="noStrike">
              <a:solidFill>
                <a:schemeClr val="dk1"/>
              </a:solidFill>
              <a:latin typeface="Calibri"/>
              <a:ea typeface="Calibri"/>
              <a:cs typeface="Calibri"/>
              <a:sym typeface="Calibri"/>
            </a:endParaRPr>
          </a:p>
        </p:txBody>
      </p:sp>
      <p:sp>
        <p:nvSpPr>
          <p:cNvPr id="116" name="Google Shape;116;p10"/>
          <p:cNvSpPr/>
          <p:nvPr/>
        </p:nvSpPr>
        <p:spPr>
          <a:xfrm>
            <a:off x="2414016" y="1508760"/>
            <a:ext cx="173736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0"/>
          <p:cNvSpPr txBox="1"/>
          <p:nvPr/>
        </p:nvSpPr>
        <p:spPr>
          <a:xfrm>
            <a:off x="2551176" y="1572768"/>
            <a:ext cx="1463040" cy="54864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Clr>
                <a:schemeClr val="accent1"/>
              </a:buClr>
              <a:buSzPts val="2100"/>
              <a:buFont typeface="Cambria"/>
              <a:buNone/>
            </a:pPr>
            <a:r>
              <a:rPr b="1" i="0" lang="en-US" sz="2100" u="none" cap="none" strike="noStrike">
                <a:solidFill>
                  <a:schemeClr val="accent1"/>
                </a:solidFill>
                <a:latin typeface="Cambria"/>
                <a:ea typeface="Cambria"/>
                <a:cs typeface="Cambria"/>
                <a:sym typeface="Cambria"/>
              </a:rPr>
              <a:t>$19.25bn</a:t>
            </a:r>
            <a:endParaRPr b="0" i="0" sz="2100" u="none" cap="none" strike="noStrike">
              <a:solidFill>
                <a:schemeClr val="dk1"/>
              </a:solidFill>
              <a:latin typeface="Calibri"/>
              <a:ea typeface="Calibri"/>
              <a:cs typeface="Calibri"/>
              <a:sym typeface="Calibri"/>
            </a:endParaRPr>
          </a:p>
        </p:txBody>
      </p:sp>
      <p:sp>
        <p:nvSpPr>
          <p:cNvPr id="118" name="Google Shape;118;p10"/>
          <p:cNvSpPr txBox="1"/>
          <p:nvPr/>
        </p:nvSpPr>
        <p:spPr>
          <a:xfrm>
            <a:off x="2551176" y="2167128"/>
            <a:ext cx="14630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pool after Sep 2026 ($22.78bn at cut-off)</a:t>
            </a:r>
            <a:endParaRPr b="0" i="0" sz="1200" u="none" cap="none" strike="noStrike">
              <a:solidFill>
                <a:schemeClr val="dk1"/>
              </a:solidFill>
              <a:latin typeface="Calibri"/>
              <a:ea typeface="Calibri"/>
              <a:cs typeface="Calibri"/>
              <a:sym typeface="Calibri"/>
            </a:endParaRPr>
          </a:p>
        </p:txBody>
      </p:sp>
      <p:sp>
        <p:nvSpPr>
          <p:cNvPr id="119" name="Google Shape;119;p10"/>
          <p:cNvSpPr/>
          <p:nvPr/>
        </p:nvSpPr>
        <p:spPr>
          <a:xfrm>
            <a:off x="4279392" y="1508760"/>
            <a:ext cx="173736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0"/>
          <p:cNvSpPr txBox="1"/>
          <p:nvPr/>
        </p:nvSpPr>
        <p:spPr>
          <a:xfrm>
            <a:off x="4416552" y="1572768"/>
            <a:ext cx="1463040" cy="54864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Clr>
                <a:schemeClr val="accent1"/>
              </a:buClr>
              <a:buSzPts val="2100"/>
              <a:buFont typeface="Cambria"/>
              <a:buNone/>
            </a:pPr>
            <a:r>
              <a:rPr b="1" i="0" lang="en-US" sz="2100" u="none" cap="none" strike="noStrike">
                <a:solidFill>
                  <a:schemeClr val="accent1"/>
                </a:solidFill>
                <a:latin typeface="Cambria"/>
                <a:ea typeface="Cambria"/>
                <a:cs typeface="Cambria"/>
                <a:sym typeface="Cambria"/>
              </a:rPr>
              <a:t>6.76%</a:t>
            </a:r>
            <a:endParaRPr b="0" i="0" sz="2100" u="none" cap="none" strike="noStrike">
              <a:solidFill>
                <a:schemeClr val="dk1"/>
              </a:solidFill>
              <a:latin typeface="Calibri"/>
              <a:ea typeface="Calibri"/>
              <a:cs typeface="Calibri"/>
              <a:sym typeface="Calibri"/>
            </a:endParaRPr>
          </a:p>
        </p:txBody>
      </p:sp>
      <p:sp>
        <p:nvSpPr>
          <p:cNvPr id="121" name="Google Shape;121;p10"/>
          <p:cNvSpPr txBox="1"/>
          <p:nvPr/>
        </p:nvSpPr>
        <p:spPr>
          <a:xfrm>
            <a:off x="4416552" y="2167128"/>
            <a:ext cx="14630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WA coupon vs 7.28% PMMS today</a:t>
            </a:r>
            <a:endParaRPr b="0" i="0" sz="1200" u="none" cap="none" strike="noStrike">
              <a:solidFill>
                <a:schemeClr val="dk1"/>
              </a:solidFill>
              <a:latin typeface="Calibri"/>
              <a:ea typeface="Calibri"/>
              <a:cs typeface="Calibri"/>
              <a:sym typeface="Calibri"/>
            </a:endParaRPr>
          </a:p>
        </p:txBody>
      </p:sp>
      <p:sp>
        <p:nvSpPr>
          <p:cNvPr id="122" name="Google Shape;122;p10"/>
          <p:cNvSpPr/>
          <p:nvPr/>
        </p:nvSpPr>
        <p:spPr>
          <a:xfrm>
            <a:off x="6144768" y="1508760"/>
            <a:ext cx="173736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txBox="1"/>
          <p:nvPr/>
        </p:nvSpPr>
        <p:spPr>
          <a:xfrm>
            <a:off x="6281928" y="1572768"/>
            <a:ext cx="1463040" cy="54864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Clr>
                <a:schemeClr val="accent1"/>
              </a:buClr>
              <a:buSzPts val="2100"/>
              <a:buFont typeface="Cambria"/>
              <a:buNone/>
            </a:pPr>
            <a:r>
              <a:rPr b="1" i="0" lang="en-US" sz="2100" u="none" cap="none" strike="noStrike">
                <a:solidFill>
                  <a:schemeClr val="accent1"/>
                </a:solidFill>
                <a:latin typeface="Cambria"/>
                <a:ea typeface="Cambria"/>
                <a:cs typeface="Cambria"/>
                <a:sym typeface="Cambria"/>
              </a:rPr>
              <a:t>759</a:t>
            </a:r>
            <a:endParaRPr b="0" i="0" sz="2100" u="none" cap="none" strike="noStrike">
              <a:solidFill>
                <a:schemeClr val="dk1"/>
              </a:solidFill>
              <a:latin typeface="Calibri"/>
              <a:ea typeface="Calibri"/>
              <a:cs typeface="Calibri"/>
              <a:sym typeface="Calibri"/>
            </a:endParaRPr>
          </a:p>
        </p:txBody>
      </p:sp>
      <p:sp>
        <p:nvSpPr>
          <p:cNvPr id="124" name="Google Shape;124;p10"/>
          <p:cNvSpPr txBox="1"/>
          <p:nvPr/>
        </p:nvSpPr>
        <p:spPr>
          <a:xfrm>
            <a:off x="6281928" y="2167128"/>
            <a:ext cx="14630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WA FICO</a:t>
            </a:r>
            <a:endParaRPr b="0" i="0" sz="1200" u="none" cap="none" strike="noStrike">
              <a:solidFill>
                <a:schemeClr val="dk1"/>
              </a:solidFill>
              <a:latin typeface="Calibri"/>
              <a:ea typeface="Calibri"/>
              <a:cs typeface="Calibri"/>
              <a:sym typeface="Calibri"/>
            </a:endParaRPr>
          </a:p>
        </p:txBody>
      </p:sp>
      <p:sp>
        <p:nvSpPr>
          <p:cNvPr id="125" name="Google Shape;125;p10"/>
          <p:cNvSpPr/>
          <p:nvPr/>
        </p:nvSpPr>
        <p:spPr>
          <a:xfrm>
            <a:off x="8010144" y="1508760"/>
            <a:ext cx="173736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txBox="1"/>
          <p:nvPr/>
        </p:nvSpPr>
        <p:spPr>
          <a:xfrm>
            <a:off x="8147304" y="1572768"/>
            <a:ext cx="1463040" cy="54864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Clr>
                <a:schemeClr val="accent1"/>
              </a:buClr>
              <a:buSzPts val="2100"/>
              <a:buFont typeface="Cambria"/>
              <a:buNone/>
            </a:pPr>
            <a:r>
              <a:rPr b="1" i="0" lang="en-US" sz="2100" u="none" cap="none" strike="noStrike">
                <a:solidFill>
                  <a:schemeClr val="accent1"/>
                </a:solidFill>
                <a:latin typeface="Cambria"/>
                <a:ea typeface="Cambria"/>
                <a:cs typeface="Cambria"/>
                <a:sym typeface="Cambria"/>
              </a:rPr>
              <a:t>70.5</a:t>
            </a:r>
            <a:endParaRPr b="0" i="0" sz="2100" u="none" cap="none" strike="noStrike">
              <a:solidFill>
                <a:schemeClr val="dk1"/>
              </a:solidFill>
              <a:latin typeface="Calibri"/>
              <a:ea typeface="Calibri"/>
              <a:cs typeface="Calibri"/>
              <a:sym typeface="Calibri"/>
            </a:endParaRPr>
          </a:p>
        </p:txBody>
      </p:sp>
      <p:sp>
        <p:nvSpPr>
          <p:cNvPr id="127" name="Google Shape;127;p10"/>
          <p:cNvSpPr txBox="1"/>
          <p:nvPr/>
        </p:nvSpPr>
        <p:spPr>
          <a:xfrm>
            <a:off x="8147304" y="2167128"/>
            <a:ext cx="14630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WA current LTV (75.6 at origination; no MI)</a:t>
            </a:r>
            <a:endParaRPr b="0" i="0" sz="1200" u="none" cap="none" strike="noStrike">
              <a:solidFill>
                <a:schemeClr val="dk1"/>
              </a:solidFill>
              <a:latin typeface="Calibri"/>
              <a:ea typeface="Calibri"/>
              <a:cs typeface="Calibri"/>
              <a:sym typeface="Calibri"/>
            </a:endParaRPr>
          </a:p>
        </p:txBody>
      </p:sp>
      <p:sp>
        <p:nvSpPr>
          <p:cNvPr id="128" name="Google Shape;128;p10"/>
          <p:cNvSpPr/>
          <p:nvPr/>
        </p:nvSpPr>
        <p:spPr>
          <a:xfrm>
            <a:off x="9875520" y="1508760"/>
            <a:ext cx="1737360" cy="1325880"/>
          </a:xfrm>
          <a:prstGeom prst="roundRect">
            <a:avLst>
              <a:gd fmla="val 551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
          <p:cNvSpPr txBox="1"/>
          <p:nvPr/>
        </p:nvSpPr>
        <p:spPr>
          <a:xfrm>
            <a:off x="10012680" y="1572768"/>
            <a:ext cx="1463040" cy="548640"/>
          </a:xfrm>
          <a:prstGeom prst="rect">
            <a:avLst/>
          </a:prstGeom>
          <a:noFill/>
          <a:ln>
            <a:noFill/>
          </a:ln>
        </p:spPr>
        <p:txBody>
          <a:bodyPr anchorCtr="0" anchor="b" bIns="0" lIns="0" spcFirstLastPara="1" rIns="0" wrap="square" tIns="0">
            <a:normAutofit/>
          </a:bodyPr>
          <a:lstStyle/>
          <a:p>
            <a:pPr indent="0" lvl="0" marL="0" marR="0" rtl="0" algn="l">
              <a:spcBef>
                <a:spcPts val="0"/>
              </a:spcBef>
              <a:spcAft>
                <a:spcPts val="0"/>
              </a:spcAft>
              <a:buClr>
                <a:schemeClr val="accent1"/>
              </a:buClr>
              <a:buSzPts val="2100"/>
              <a:buFont typeface="Cambria"/>
              <a:buNone/>
            </a:pPr>
            <a:r>
              <a:rPr b="1" i="0" lang="en-US" sz="2100" u="none" cap="none" strike="noStrike">
                <a:solidFill>
                  <a:schemeClr val="accent1"/>
                </a:solidFill>
                <a:latin typeface="Cambria"/>
                <a:ea typeface="Cambria"/>
                <a:cs typeface="Cambria"/>
                <a:sym typeface="Cambria"/>
              </a:rPr>
              <a:t>0.79%</a:t>
            </a:r>
            <a:endParaRPr b="0" i="0" sz="2100" u="none" cap="none" strike="noStrike">
              <a:solidFill>
                <a:schemeClr val="dk1"/>
              </a:solidFill>
              <a:latin typeface="Calibri"/>
              <a:ea typeface="Calibri"/>
              <a:cs typeface="Calibri"/>
              <a:sym typeface="Calibri"/>
            </a:endParaRPr>
          </a:p>
        </p:txBody>
      </p:sp>
      <p:sp>
        <p:nvSpPr>
          <p:cNvPr id="130" name="Google Shape;130;p10"/>
          <p:cNvSpPr txBox="1"/>
          <p:nvPr/>
        </p:nvSpPr>
        <p:spPr>
          <a:xfrm>
            <a:off x="10012680" y="2167128"/>
            <a:ext cx="14630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of balance 30+ days late; DTI 38.5</a:t>
            </a:r>
            <a:endParaRPr b="0" i="0" sz="1200" u="none" cap="none" strike="noStrike">
              <a:solidFill>
                <a:schemeClr val="dk1"/>
              </a:solidFill>
              <a:latin typeface="Calibri"/>
              <a:ea typeface="Calibri"/>
              <a:cs typeface="Calibri"/>
              <a:sym typeface="Calibri"/>
            </a:endParaRPr>
          </a:p>
        </p:txBody>
      </p:sp>
      <p:sp>
        <p:nvSpPr>
          <p:cNvPr id="131" name="Google Shape;131;p10"/>
          <p:cNvSpPr/>
          <p:nvPr/>
        </p:nvSpPr>
        <p:spPr>
          <a:xfrm>
            <a:off x="548640" y="3063240"/>
            <a:ext cx="2628900" cy="3108960"/>
          </a:xfrm>
          <a:prstGeom prst="roundRect">
            <a:avLst>
              <a:gd fmla="val 278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
          <p:cNvSpPr/>
          <p:nvPr/>
        </p:nvSpPr>
        <p:spPr>
          <a:xfrm>
            <a:off x="777240" y="329184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
          <p:cNvSpPr txBox="1"/>
          <p:nvPr/>
        </p:nvSpPr>
        <p:spPr>
          <a:xfrm>
            <a:off x="777240" y="32918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mbria"/>
              <a:buNone/>
            </a:pPr>
            <a:r>
              <a:rPr b="1" i="0" lang="en-US" sz="1800" u="none" cap="none" strike="noStrike">
                <a:solidFill>
                  <a:schemeClr val="lt1"/>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34" name="Google Shape;134;p10"/>
          <p:cNvSpPr txBox="1"/>
          <p:nvPr/>
        </p:nvSpPr>
        <p:spPr>
          <a:xfrm>
            <a:off x="1417320" y="3291840"/>
            <a:ext cx="15316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Load</a:t>
            </a:r>
            <a:endParaRPr b="0" i="0" sz="1800" u="none" cap="none" strike="noStrike">
              <a:solidFill>
                <a:schemeClr val="dk1"/>
              </a:solidFill>
              <a:latin typeface="Calibri"/>
              <a:ea typeface="Calibri"/>
              <a:cs typeface="Calibri"/>
              <a:sym typeface="Calibri"/>
            </a:endParaRPr>
          </a:p>
        </p:txBody>
      </p:sp>
      <p:sp>
        <p:nvSpPr>
          <p:cNvPr id="135" name="Google Shape;135;p10"/>
          <p:cNvSpPr txBox="1"/>
          <p:nvPr/>
        </p:nvSpPr>
        <p:spPr>
          <a:xfrm>
            <a:off x="777240" y="3977640"/>
            <a:ext cx="21717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Newest dated tape: Freddie Mac disclosure in the Bloomberg layout, matched to Bloomberg CLP</a:t>
            </a:r>
            <a:endParaRPr b="0" i="0" sz="1300" u="none" cap="none" strike="noStrike">
              <a:solidFill>
                <a:schemeClr val="dk1"/>
              </a:solidFill>
              <a:latin typeface="Calibri"/>
              <a:ea typeface="Calibri"/>
              <a:cs typeface="Calibri"/>
              <a:sym typeface="Calibri"/>
            </a:endParaRPr>
          </a:p>
        </p:txBody>
      </p:sp>
      <p:sp>
        <p:nvSpPr>
          <p:cNvPr id="136" name="Google Shape;136;p10"/>
          <p:cNvSpPr/>
          <p:nvPr/>
        </p:nvSpPr>
        <p:spPr>
          <a:xfrm>
            <a:off x="3360420" y="3063240"/>
            <a:ext cx="2628900" cy="3108960"/>
          </a:xfrm>
          <a:prstGeom prst="roundRect">
            <a:avLst>
              <a:gd fmla="val 278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
          <p:cNvSpPr/>
          <p:nvPr/>
        </p:nvSpPr>
        <p:spPr>
          <a:xfrm>
            <a:off x="3589020" y="329184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txBox="1"/>
          <p:nvPr/>
        </p:nvSpPr>
        <p:spPr>
          <a:xfrm>
            <a:off x="3589020" y="32918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mbria"/>
              <a:buNone/>
            </a:pPr>
            <a:r>
              <a:rPr b="1" i="0" lang="en-US" sz="1800" u="none" cap="none" strike="noStrike">
                <a:solidFill>
                  <a:schemeClr val="lt1"/>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39" name="Google Shape;139;p10"/>
          <p:cNvSpPr txBox="1"/>
          <p:nvPr/>
        </p:nvSpPr>
        <p:spPr>
          <a:xfrm>
            <a:off x="4229100" y="3291840"/>
            <a:ext cx="15316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Clean</a:t>
            </a:r>
            <a:endParaRPr b="0" i="0" sz="1800" u="none" cap="none" strike="noStrike">
              <a:solidFill>
                <a:schemeClr val="dk1"/>
              </a:solidFill>
              <a:latin typeface="Calibri"/>
              <a:ea typeface="Calibri"/>
              <a:cs typeface="Calibri"/>
              <a:sym typeface="Calibri"/>
            </a:endParaRPr>
          </a:p>
        </p:txBody>
      </p:sp>
      <p:sp>
        <p:nvSpPr>
          <p:cNvPr id="140" name="Google Shape;140;p10"/>
          <p:cNvSpPr txBox="1"/>
          <p:nvPr/>
        </p:nvSpPr>
        <p:spPr>
          <a:xfrm>
            <a:off x="3589020" y="3977640"/>
            <a:ext cx="21717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Standardize field names, units and dates; balance-weighted pool statistics; written to data/processed</a:t>
            </a:r>
            <a:endParaRPr b="0" i="0" sz="1300" u="none" cap="none" strike="noStrike">
              <a:solidFill>
                <a:schemeClr val="dk1"/>
              </a:solidFill>
              <a:latin typeface="Calibri"/>
              <a:ea typeface="Calibri"/>
              <a:cs typeface="Calibri"/>
              <a:sym typeface="Calibri"/>
            </a:endParaRPr>
          </a:p>
        </p:txBody>
      </p:sp>
      <p:sp>
        <p:nvSpPr>
          <p:cNvPr id="141" name="Google Shape;141;p10"/>
          <p:cNvSpPr/>
          <p:nvPr/>
        </p:nvSpPr>
        <p:spPr>
          <a:xfrm>
            <a:off x="6172200" y="3063240"/>
            <a:ext cx="2628900" cy="3108960"/>
          </a:xfrm>
          <a:prstGeom prst="roundRect">
            <a:avLst>
              <a:gd fmla="val 278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
          <p:cNvSpPr/>
          <p:nvPr/>
        </p:nvSpPr>
        <p:spPr>
          <a:xfrm>
            <a:off x="6400800" y="329184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
          <p:cNvSpPr txBox="1"/>
          <p:nvPr/>
        </p:nvSpPr>
        <p:spPr>
          <a:xfrm>
            <a:off x="6400800" y="32918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mbria"/>
              <a:buNone/>
            </a:pPr>
            <a:r>
              <a:rPr b="1" i="0" lang="en-US" sz="1800" u="none" cap="none" strike="noStrike">
                <a:solidFill>
                  <a:schemeClr val="lt1"/>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44" name="Google Shape;144;p10"/>
          <p:cNvSpPr txBox="1"/>
          <p:nvPr/>
        </p:nvSpPr>
        <p:spPr>
          <a:xfrm>
            <a:off x="7040880" y="3291840"/>
            <a:ext cx="15316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Class factors</a:t>
            </a:r>
            <a:endParaRPr b="0" i="0" sz="1800" u="none" cap="none" strike="noStrike">
              <a:solidFill>
                <a:schemeClr val="dk1"/>
              </a:solidFill>
              <a:latin typeface="Calibri"/>
              <a:ea typeface="Calibri"/>
              <a:cs typeface="Calibri"/>
              <a:sym typeface="Calibri"/>
            </a:endParaRPr>
          </a:p>
        </p:txBody>
      </p:sp>
      <p:sp>
        <p:nvSpPr>
          <p:cNvPr id="145" name="Google Shape;145;p10"/>
          <p:cNvSpPr txBox="1"/>
          <p:nvPr/>
        </p:nvSpPr>
        <p:spPr>
          <a:xfrm>
            <a:off x="6400800" y="3977640"/>
            <a:ext cx="21717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September factors for every class, checked against Bloomberg; A-H is the residual</a:t>
            </a:r>
            <a:endParaRPr b="0" i="0" sz="1300" u="none" cap="none" strike="noStrike">
              <a:solidFill>
                <a:schemeClr val="dk1"/>
              </a:solidFill>
              <a:latin typeface="Calibri"/>
              <a:ea typeface="Calibri"/>
              <a:cs typeface="Calibri"/>
              <a:sym typeface="Calibri"/>
            </a:endParaRPr>
          </a:p>
        </p:txBody>
      </p:sp>
      <p:sp>
        <p:nvSpPr>
          <p:cNvPr id="146" name="Google Shape;146;p10"/>
          <p:cNvSpPr/>
          <p:nvPr/>
        </p:nvSpPr>
        <p:spPr>
          <a:xfrm>
            <a:off x="8983980" y="3063240"/>
            <a:ext cx="2628900" cy="3108960"/>
          </a:xfrm>
          <a:prstGeom prst="roundRect">
            <a:avLst>
              <a:gd fmla="val 278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0"/>
          <p:cNvSpPr/>
          <p:nvPr/>
        </p:nvSpPr>
        <p:spPr>
          <a:xfrm>
            <a:off x="9212580" y="3291840"/>
            <a:ext cx="502920" cy="50292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
          <p:cNvSpPr txBox="1"/>
          <p:nvPr/>
        </p:nvSpPr>
        <p:spPr>
          <a:xfrm>
            <a:off x="9212580" y="32918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mbria"/>
              <a:buNone/>
            </a:pPr>
            <a:r>
              <a:rPr b="1" i="0" lang="en-US" sz="1800" u="none" cap="none" strike="noStrike">
                <a:solidFill>
                  <a:schemeClr val="lt1"/>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149" name="Google Shape;149;p10"/>
          <p:cNvSpPr txBox="1"/>
          <p:nvPr/>
        </p:nvSpPr>
        <p:spPr>
          <a:xfrm>
            <a:off x="9852660" y="3291840"/>
            <a:ext cx="15316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Hand-off</a:t>
            </a:r>
            <a:endParaRPr b="0" i="0" sz="1800" u="none" cap="none" strike="noStrike">
              <a:solidFill>
                <a:schemeClr val="dk1"/>
              </a:solidFill>
              <a:latin typeface="Calibri"/>
              <a:ea typeface="Calibri"/>
              <a:cs typeface="Calibri"/>
              <a:sym typeface="Calibri"/>
            </a:endParaRPr>
          </a:p>
        </p:txBody>
      </p:sp>
      <p:sp>
        <p:nvSpPr>
          <p:cNvPr id="150" name="Google Shape;150;p10"/>
          <p:cNvSpPr txBox="1"/>
          <p:nvPr/>
        </p:nvSpPr>
        <p:spPr>
          <a:xfrm>
            <a:off x="9212580" y="3977640"/>
            <a:ext cx="21717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Loans already 60+ days late (about $52mm) start in the liquidation pipeline</a:t>
            </a:r>
            <a:endParaRPr b="0" i="0" sz="1300" u="none" cap="none" strike="noStrike">
              <a:solidFill>
                <a:schemeClr val="dk1"/>
              </a:solidFill>
              <a:latin typeface="Calibri"/>
              <a:ea typeface="Calibri"/>
              <a:cs typeface="Calibri"/>
              <a:sym typeface="Calibri"/>
            </a:endParaRPr>
          </a:p>
        </p:txBody>
      </p:sp>
      <p:sp>
        <p:nvSpPr>
          <p:cNvPr id="151" name="Google Shape;151;p10"/>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Two methods: simulation and historical stress replays</a:t>
            </a:r>
            <a:endParaRPr sz="2400"/>
          </a:p>
        </p:txBody>
      </p:sp>
      <p:sp>
        <p:nvSpPr>
          <p:cNvPr id="158" name="Google Shape;158;p11"/>
          <p:cNvSpPr/>
          <p:nvPr/>
        </p:nvSpPr>
        <p:spPr>
          <a:xfrm>
            <a:off x="548640" y="1508760"/>
            <a:ext cx="262890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txBox="1"/>
          <p:nvPr/>
        </p:nvSpPr>
        <p:spPr>
          <a:xfrm>
            <a:off x="731520" y="1572768"/>
            <a:ext cx="226314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20,000</a:t>
            </a:r>
            <a:endParaRPr b="0" i="0" sz="2600" u="none" cap="none" strike="noStrike">
              <a:solidFill>
                <a:schemeClr val="dk1"/>
              </a:solidFill>
              <a:latin typeface="Calibri"/>
              <a:ea typeface="Calibri"/>
              <a:cs typeface="Calibri"/>
              <a:sym typeface="Calibri"/>
            </a:endParaRPr>
          </a:p>
        </p:txBody>
      </p:sp>
      <p:sp>
        <p:nvSpPr>
          <p:cNvPr id="160" name="Google Shape;160;p11"/>
          <p:cNvSpPr txBox="1"/>
          <p:nvPr/>
        </p:nvSpPr>
        <p:spPr>
          <a:xfrm>
            <a:off x="731520" y="2148840"/>
            <a:ext cx="22631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simulated paths</a:t>
            </a:r>
            <a:endParaRPr b="0" i="0" sz="1200" u="none" cap="none" strike="noStrike">
              <a:solidFill>
                <a:schemeClr val="dk1"/>
              </a:solidFill>
              <a:latin typeface="Calibri"/>
              <a:ea typeface="Calibri"/>
              <a:cs typeface="Calibri"/>
              <a:sym typeface="Calibri"/>
            </a:endParaRPr>
          </a:p>
        </p:txBody>
      </p:sp>
      <p:sp>
        <p:nvSpPr>
          <p:cNvPr id="161" name="Google Shape;161;p11"/>
          <p:cNvSpPr/>
          <p:nvPr/>
        </p:nvSpPr>
        <p:spPr>
          <a:xfrm>
            <a:off x="3360420" y="1508760"/>
            <a:ext cx="262890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txBox="1"/>
          <p:nvPr/>
        </p:nvSpPr>
        <p:spPr>
          <a:xfrm>
            <a:off x="3543300" y="1572768"/>
            <a:ext cx="226314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53</a:t>
            </a:r>
            <a:endParaRPr b="0" i="0" sz="2600" u="none" cap="none" strike="noStrike">
              <a:solidFill>
                <a:schemeClr val="dk1"/>
              </a:solidFill>
              <a:latin typeface="Calibri"/>
              <a:ea typeface="Calibri"/>
              <a:cs typeface="Calibri"/>
              <a:sym typeface="Calibri"/>
            </a:endParaRPr>
          </a:p>
        </p:txBody>
      </p:sp>
      <p:sp>
        <p:nvSpPr>
          <p:cNvPr id="163" name="Google Shape;163;p11"/>
          <p:cNvSpPr txBox="1"/>
          <p:nvPr/>
        </p:nvSpPr>
        <p:spPr>
          <a:xfrm>
            <a:off x="3543300" y="2148840"/>
            <a:ext cx="22631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monthly steps to the Feb 2031 call</a:t>
            </a:r>
            <a:endParaRPr b="0" i="0" sz="1200" u="none" cap="none" strike="noStrike">
              <a:solidFill>
                <a:schemeClr val="dk1"/>
              </a:solidFill>
              <a:latin typeface="Calibri"/>
              <a:ea typeface="Calibri"/>
              <a:cs typeface="Calibri"/>
              <a:sym typeface="Calibri"/>
            </a:endParaRPr>
          </a:p>
        </p:txBody>
      </p:sp>
      <p:sp>
        <p:nvSpPr>
          <p:cNvPr id="164" name="Google Shape;164;p11"/>
          <p:cNvSpPr/>
          <p:nvPr/>
        </p:nvSpPr>
        <p:spPr>
          <a:xfrm>
            <a:off x="6172200" y="1508760"/>
            <a:ext cx="262890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txBox="1"/>
          <p:nvPr/>
        </p:nvSpPr>
        <p:spPr>
          <a:xfrm>
            <a:off x="6355080" y="1572768"/>
            <a:ext cx="226314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319</a:t>
            </a:r>
            <a:endParaRPr b="0" i="0" sz="2600" u="none" cap="none" strike="noStrike">
              <a:solidFill>
                <a:schemeClr val="dk1"/>
              </a:solidFill>
              <a:latin typeface="Calibri"/>
              <a:ea typeface="Calibri"/>
              <a:cs typeface="Calibri"/>
              <a:sym typeface="Calibri"/>
            </a:endParaRPr>
          </a:p>
        </p:txBody>
      </p:sp>
      <p:sp>
        <p:nvSpPr>
          <p:cNvPr id="166" name="Google Shape;166;p11"/>
          <p:cNvSpPr txBox="1"/>
          <p:nvPr/>
        </p:nvSpPr>
        <p:spPr>
          <a:xfrm>
            <a:off x="6355080" y="2148840"/>
            <a:ext cx="22631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months of calibration data (2000–2026)</a:t>
            </a:r>
            <a:endParaRPr b="0" i="0" sz="1200" u="none" cap="none" strike="noStrike">
              <a:solidFill>
                <a:schemeClr val="dk1"/>
              </a:solidFill>
              <a:latin typeface="Calibri"/>
              <a:ea typeface="Calibri"/>
              <a:cs typeface="Calibri"/>
              <a:sym typeface="Calibri"/>
            </a:endParaRPr>
          </a:p>
        </p:txBody>
      </p:sp>
      <p:sp>
        <p:nvSpPr>
          <p:cNvPr id="167" name="Google Shape;167;p11"/>
          <p:cNvSpPr/>
          <p:nvPr/>
        </p:nvSpPr>
        <p:spPr>
          <a:xfrm>
            <a:off x="8983980" y="1508760"/>
            <a:ext cx="2628900" cy="1143000"/>
          </a:xfrm>
          <a:prstGeom prst="roundRect">
            <a:avLst>
              <a:gd fmla="val 6400"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txBox="1"/>
          <p:nvPr/>
        </p:nvSpPr>
        <p:spPr>
          <a:xfrm>
            <a:off x="9166860" y="1572768"/>
            <a:ext cx="226314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5</a:t>
            </a:r>
            <a:endParaRPr b="0" i="0" sz="2600" u="none" cap="none" strike="noStrike">
              <a:solidFill>
                <a:schemeClr val="dk1"/>
              </a:solidFill>
              <a:latin typeface="Calibri"/>
              <a:ea typeface="Calibri"/>
              <a:cs typeface="Calibri"/>
              <a:sym typeface="Calibri"/>
            </a:endParaRPr>
          </a:p>
        </p:txBody>
      </p:sp>
      <p:sp>
        <p:nvSpPr>
          <p:cNvPr id="169" name="Google Shape;169;p11"/>
          <p:cNvSpPr txBox="1"/>
          <p:nvPr/>
        </p:nvSpPr>
        <p:spPr>
          <a:xfrm>
            <a:off x="9166860" y="2148840"/>
            <a:ext cx="22631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factors moved jointly</a:t>
            </a:r>
            <a:endParaRPr b="0" i="0" sz="1200" u="none" cap="none" strike="noStrike">
              <a:solidFill>
                <a:schemeClr val="dk1"/>
              </a:solidFill>
              <a:latin typeface="Calibri"/>
              <a:ea typeface="Calibri"/>
              <a:cs typeface="Calibri"/>
              <a:sym typeface="Calibri"/>
            </a:endParaRPr>
          </a:p>
        </p:txBody>
      </p:sp>
      <p:sp>
        <p:nvSpPr>
          <p:cNvPr id="170" name="Google Shape;170;p11"/>
          <p:cNvSpPr/>
          <p:nvPr/>
        </p:nvSpPr>
        <p:spPr>
          <a:xfrm>
            <a:off x="548640" y="2880360"/>
            <a:ext cx="5440680" cy="3291840"/>
          </a:xfrm>
          <a:prstGeom prst="roundRect">
            <a:avLst>
              <a:gd fmla="val 222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txBox="1"/>
          <p:nvPr/>
        </p:nvSpPr>
        <p:spPr>
          <a:xfrm>
            <a:off x="777240" y="306324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Good and base: simulation</a:t>
            </a:r>
            <a:endParaRPr b="0" i="0" sz="1800" u="none" cap="none" strike="noStrike">
              <a:solidFill>
                <a:schemeClr val="dk1"/>
              </a:solidFill>
              <a:latin typeface="Calibri"/>
              <a:ea typeface="Calibri"/>
              <a:cs typeface="Calibri"/>
              <a:sym typeface="Calibri"/>
            </a:endParaRPr>
          </a:p>
        </p:txBody>
      </p:sp>
      <p:sp>
        <p:nvSpPr>
          <p:cNvPr id="172" name="Google Shape;172;p11"/>
          <p:cNvSpPr txBox="1"/>
          <p:nvPr/>
        </p:nvSpPr>
        <p:spPr>
          <a:xfrm>
            <a:off x="777240" y="3611880"/>
            <a:ext cx="4983480" cy="23774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AR(1) for each factor: short rate, 2y and 10y Treasury, mortgage spread, HPI growth</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Residuals bootstrapped in 6-month blocks, all factors from the same months, so co-movement is kept</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Paths ranked by house-price outcome: good = 75–85th percentile, base = 45–55th; each scenario is the band's average path</a:t>
            </a:r>
            <a:endParaRPr b="0" i="0" sz="1300" u="none" cap="none" strike="noStrike">
              <a:solidFill>
                <a:schemeClr val="dk1"/>
              </a:solidFill>
              <a:latin typeface="Calibri"/>
              <a:ea typeface="Calibri"/>
              <a:cs typeface="Calibri"/>
              <a:sym typeface="Calibri"/>
            </a:endParaRPr>
          </a:p>
        </p:txBody>
      </p:sp>
      <p:sp>
        <p:nvSpPr>
          <p:cNvPr id="173" name="Google Shape;173;p11"/>
          <p:cNvSpPr/>
          <p:nvPr/>
        </p:nvSpPr>
        <p:spPr>
          <a:xfrm>
            <a:off x="6172200" y="2880360"/>
            <a:ext cx="5440680" cy="3291840"/>
          </a:xfrm>
          <a:prstGeom prst="roundRect">
            <a:avLst>
              <a:gd fmla="val 2222"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txBox="1"/>
          <p:nvPr/>
        </p:nvSpPr>
        <p:spPr>
          <a:xfrm>
            <a:off x="6400800" y="3063240"/>
            <a:ext cx="4983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Moderate and severe: history</a:t>
            </a:r>
            <a:endParaRPr b="0" i="0" sz="1800" u="none" cap="none" strike="noStrike">
              <a:solidFill>
                <a:schemeClr val="dk1"/>
              </a:solidFill>
              <a:latin typeface="Calibri"/>
              <a:ea typeface="Calibri"/>
              <a:cs typeface="Calibri"/>
              <a:sym typeface="Calibri"/>
            </a:endParaRPr>
          </a:p>
        </p:txBody>
      </p:sp>
      <p:sp>
        <p:nvSpPr>
          <p:cNvPr id="175" name="Google Shape;175;p11"/>
          <p:cNvSpPr txBox="1"/>
          <p:nvPr/>
        </p:nvSpPr>
        <p:spPr>
          <a:xfrm>
            <a:off x="6400800" y="3611880"/>
            <a:ext cx="4983480" cy="23774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Replay 53-month windows of joint rate and HPI changes from 2000–2026 (266 candidate windows)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Moderate: 10th-percentile HPI window, Dec 2005 – May 2010</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Severe: worst window, Mar 2007 – Aug 2011</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Changes re-anchored to today's rates</a:t>
            </a:r>
            <a:endParaRPr b="0" i="0" sz="1300" u="none" cap="none" strike="noStrike">
              <a:solidFill>
                <a:schemeClr val="dk1"/>
              </a:solidFill>
              <a:latin typeface="Calibri"/>
              <a:ea typeface="Calibri"/>
              <a:cs typeface="Calibri"/>
              <a:sym typeface="Calibri"/>
            </a:endParaRPr>
          </a:p>
        </p:txBody>
      </p:sp>
      <p:sp>
        <p:nvSpPr>
          <p:cNvPr id="176" name="Google Shape;176;p11"/>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All paths start at today's 7.28% rate; house prices split</a:t>
            </a:r>
            <a:endParaRPr sz="2400"/>
          </a:p>
        </p:txBody>
      </p:sp>
      <p:pic>
        <p:nvPicPr>
          <p:cNvPr id="183" name="Google Shape;183;p12"/>
          <p:cNvPicPr preferRelativeResize="0"/>
          <p:nvPr/>
        </p:nvPicPr>
        <p:blipFill rotWithShape="1">
          <a:blip r:embed="rId3">
            <a:alphaModFix/>
          </a:blip>
          <a:srcRect b="0" l="0" r="0" t="0"/>
          <a:stretch/>
        </p:blipFill>
        <p:spPr>
          <a:xfrm>
            <a:off x="548640" y="1508760"/>
            <a:ext cx="3657600" cy="3108960"/>
          </a:xfrm>
          <a:prstGeom prst="rect">
            <a:avLst/>
          </a:prstGeom>
          <a:noFill/>
          <a:ln>
            <a:noFill/>
          </a:ln>
        </p:spPr>
      </p:pic>
      <p:pic>
        <p:nvPicPr>
          <p:cNvPr id="184" name="Google Shape;184;p12"/>
          <p:cNvPicPr preferRelativeResize="0"/>
          <p:nvPr/>
        </p:nvPicPr>
        <p:blipFill rotWithShape="1">
          <a:blip r:embed="rId4">
            <a:alphaModFix/>
          </a:blip>
          <a:srcRect b="0" l="0" r="0" t="0"/>
          <a:stretch/>
        </p:blipFill>
        <p:spPr>
          <a:xfrm>
            <a:off x="4251960" y="1508760"/>
            <a:ext cx="3657600" cy="3108960"/>
          </a:xfrm>
          <a:prstGeom prst="rect">
            <a:avLst/>
          </a:prstGeom>
          <a:noFill/>
          <a:ln>
            <a:noFill/>
          </a:ln>
        </p:spPr>
      </p:pic>
      <p:pic>
        <p:nvPicPr>
          <p:cNvPr id="185" name="Google Shape;185;p12"/>
          <p:cNvPicPr preferRelativeResize="0"/>
          <p:nvPr/>
        </p:nvPicPr>
        <p:blipFill rotWithShape="1">
          <a:blip r:embed="rId5">
            <a:alphaModFix/>
          </a:blip>
          <a:srcRect b="0" l="0" r="0" t="0"/>
          <a:stretch/>
        </p:blipFill>
        <p:spPr>
          <a:xfrm>
            <a:off x="7955280" y="1508760"/>
            <a:ext cx="3657600" cy="3108960"/>
          </a:xfrm>
          <a:prstGeom prst="rect">
            <a:avLst/>
          </a:prstGeom>
          <a:noFill/>
          <a:ln>
            <a:noFill/>
          </a:ln>
        </p:spPr>
      </p:pic>
      <p:graphicFrame>
        <p:nvGraphicFramePr>
          <p:cNvPr id="186" name="Google Shape;186;p12"/>
          <p:cNvGraphicFramePr/>
          <p:nvPr/>
        </p:nvGraphicFramePr>
        <p:xfrm>
          <a:off x="548640" y="4754880"/>
          <a:ext cx="3000000" cy="3000000"/>
        </p:xfrm>
        <a:graphic>
          <a:graphicData uri="http://schemas.openxmlformats.org/drawingml/2006/table">
            <a:tbl>
              <a:tblPr>
                <a:noFill/>
                <a:tableStyleId>{25C77E93-19F6-4675-AD0D-53BB172675F8}</a:tableStyleId>
              </a:tblPr>
              <a:tblGrid>
                <a:gridCol w="1463050"/>
                <a:gridCol w="3291850"/>
                <a:gridCol w="2103125"/>
                <a:gridCol w="2194550"/>
                <a:gridCol w="2011675"/>
              </a:tblGrid>
              <a:tr h="28347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Scenario</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Method</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HPI change by call</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Mortgage rate at call</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SOFR at call</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283475">
                <a:tc>
                  <a:txBody>
                    <a:bodyPr/>
                    <a:lstStyle/>
                    <a:p>
                      <a:pPr indent="0" lvl="0" marL="0" marR="0" rtl="0" algn="l">
                        <a:spcBef>
                          <a:spcPts val="0"/>
                        </a:spcBef>
                        <a:spcAft>
                          <a:spcPts val="0"/>
                        </a:spcAft>
                        <a:buClr>
                          <a:srgbClr val="2E8B57"/>
                        </a:buClr>
                        <a:buSzPts val="1200"/>
                        <a:buFont typeface="Calibri"/>
                        <a:buNone/>
                      </a:pPr>
                      <a:r>
                        <a:rPr b="1" lang="en-US" sz="1200" u="none" cap="none" strike="noStrike">
                          <a:solidFill>
                            <a:srgbClr val="2E8B57"/>
                          </a:solidFill>
                        </a:rPr>
                        <a:t>Good</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Simulation, 75–85th pct</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+32.1%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5.67%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3.42%</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283475">
                <a:tc>
                  <a:txBody>
                    <a:bodyPr/>
                    <a:lstStyle/>
                    <a:p>
                      <a:pPr indent="0" lvl="0" marL="0" marR="0" rtl="0" algn="l">
                        <a:spcBef>
                          <a:spcPts val="0"/>
                        </a:spcBef>
                        <a:spcAft>
                          <a:spcPts val="0"/>
                        </a:spcAft>
                        <a:buClr>
                          <a:srgbClr val="1F6F8B"/>
                        </a:buClr>
                        <a:buSzPts val="1200"/>
                        <a:buFont typeface="Calibri"/>
                        <a:buNone/>
                      </a:pPr>
                      <a:r>
                        <a:rPr b="1" lang="en-US" sz="1200" u="none" cap="none" strike="noStrike">
                          <a:solidFill>
                            <a:srgbClr val="1F6F8B"/>
                          </a:solidFill>
                        </a:rPr>
                        <a:t>Base</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Simulation, 45–55th pct</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+22.3%</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5.79%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3.41%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283475">
                <a:tc>
                  <a:txBody>
                    <a:bodyPr/>
                    <a:lstStyle/>
                    <a:p>
                      <a:pPr indent="0" lvl="0" marL="0" marR="0" rtl="0" algn="l">
                        <a:spcBef>
                          <a:spcPts val="0"/>
                        </a:spcBef>
                        <a:spcAft>
                          <a:spcPts val="0"/>
                        </a:spcAft>
                        <a:buClr>
                          <a:srgbClr val="D9922E"/>
                        </a:buClr>
                        <a:buSzPts val="1200"/>
                        <a:buFont typeface="Calibri"/>
                        <a:buNone/>
                      </a:pPr>
                      <a:r>
                        <a:rPr b="1" lang="en-US" sz="1200" u="none" cap="none" strike="noStrike">
                          <a:solidFill>
                            <a:srgbClr val="D9922E"/>
                          </a:solidFill>
                        </a:rPr>
                        <a:t>Moderate</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Replay Dec 2005 – May 2010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−13.7%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5.90%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283475">
                <a:tc>
                  <a:txBody>
                    <a:bodyPr/>
                    <a:lstStyle/>
                    <a:p>
                      <a:pPr indent="0" lvl="0" marL="0" marR="0" rtl="0" algn="l">
                        <a:spcBef>
                          <a:spcPts val="0"/>
                        </a:spcBef>
                        <a:spcAft>
                          <a:spcPts val="0"/>
                        </a:spcAft>
                        <a:buClr>
                          <a:srgbClr val="B23A3A"/>
                        </a:buClr>
                        <a:buSzPts val="1200"/>
                        <a:buFont typeface="Calibri"/>
                        <a:buNone/>
                      </a:pPr>
                      <a:r>
                        <a:rPr b="1" lang="en-US" sz="1200" u="none" cap="none" strike="noStrike">
                          <a:solidFill>
                            <a:srgbClr val="B23A3A"/>
                          </a:solidFill>
                        </a:rPr>
                        <a:t>Severe</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Replay Mar 2007 – Aug 2011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−21.1%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5.39%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187" name="Google Shape;187;p12"/>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Three behaviors, applied loan by loan each month</a:t>
            </a:r>
            <a:endParaRPr sz="2400"/>
          </a:p>
        </p:txBody>
      </p:sp>
      <p:sp>
        <p:nvSpPr>
          <p:cNvPr id="194" name="Google Shape;194;p13"/>
          <p:cNvSpPr/>
          <p:nvPr/>
        </p:nvSpPr>
        <p:spPr>
          <a:xfrm>
            <a:off x="548640" y="1508760"/>
            <a:ext cx="3566160" cy="3657600"/>
          </a:xfrm>
          <a:prstGeom prst="roundRect">
            <a:avLst>
              <a:gd fmla="val 205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3"/>
          <p:cNvSpPr txBox="1"/>
          <p:nvPr/>
        </p:nvSpPr>
        <p:spPr>
          <a:xfrm>
            <a:off x="777240" y="16916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Prepayment</a:t>
            </a:r>
            <a:endParaRPr b="0" i="0" sz="1800" u="none" cap="none" strike="noStrike">
              <a:solidFill>
                <a:schemeClr val="dk1"/>
              </a:solidFill>
              <a:latin typeface="Calibri"/>
              <a:ea typeface="Calibri"/>
              <a:cs typeface="Calibri"/>
              <a:sym typeface="Calibri"/>
            </a:endParaRPr>
          </a:p>
        </p:txBody>
      </p:sp>
      <p:sp>
        <p:nvSpPr>
          <p:cNvPr id="196" name="Google Shape;196;p13"/>
          <p:cNvSpPr/>
          <p:nvPr/>
        </p:nvSpPr>
        <p:spPr>
          <a:xfrm>
            <a:off x="731520" y="2240280"/>
            <a:ext cx="3200400" cy="822960"/>
          </a:xfrm>
          <a:prstGeom prst="roundRect">
            <a:avLst>
              <a:gd fmla="val 6667" name="adj"/>
            </a:avLst>
          </a:prstGeom>
          <a:solidFill>
            <a:schemeClr val="lt1"/>
          </a:solidFill>
          <a:ln cap="flat" cmpd="sng" w="9525">
            <a:solidFill>
              <a:srgbClr val="C9D5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
          <p:cNvSpPr txBox="1"/>
          <p:nvPr/>
        </p:nvSpPr>
        <p:spPr>
          <a:xfrm>
            <a:off x="822960" y="2240280"/>
            <a:ext cx="3017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CPR = ramp × [turnover + refi max × S(coupon − PMMS) − burnout]</a:t>
            </a:r>
            <a:endParaRPr b="0" i="0" sz="1200" u="none" cap="none" strike="noStrike">
              <a:solidFill>
                <a:schemeClr val="dk1"/>
              </a:solidFill>
              <a:latin typeface="Calibri"/>
              <a:ea typeface="Calibri"/>
              <a:cs typeface="Calibri"/>
              <a:sym typeface="Calibri"/>
            </a:endParaRPr>
          </a:p>
        </p:txBody>
      </p:sp>
      <p:sp>
        <p:nvSpPr>
          <p:cNvPr id="198" name="Google Shape;198;p13"/>
          <p:cNvSpPr txBox="1"/>
          <p:nvPr/>
        </p:nvSpPr>
        <p:spPr>
          <a:xfrm>
            <a:off x="777240" y="3246120"/>
            <a:ext cx="3108960" cy="18288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Logistic S-curve in the refinancing incentive</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Fitted: turnover 5.5%, refi add-on up to 41.4%, midpoint 0.71 pp, ramp about 6 months</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CPR turned into a monthly SMM</a:t>
            </a:r>
            <a:endParaRPr b="0" i="0" sz="1300" u="none" cap="none" strike="noStrike">
              <a:solidFill>
                <a:schemeClr val="dk1"/>
              </a:solidFill>
              <a:latin typeface="Calibri"/>
              <a:ea typeface="Calibri"/>
              <a:cs typeface="Calibri"/>
              <a:sym typeface="Calibri"/>
            </a:endParaRPr>
          </a:p>
        </p:txBody>
      </p:sp>
      <p:sp>
        <p:nvSpPr>
          <p:cNvPr id="199" name="Google Shape;199;p13"/>
          <p:cNvSpPr/>
          <p:nvPr/>
        </p:nvSpPr>
        <p:spPr>
          <a:xfrm>
            <a:off x="4297680" y="1508760"/>
            <a:ext cx="3566160" cy="3657600"/>
          </a:xfrm>
          <a:prstGeom prst="roundRect">
            <a:avLst>
              <a:gd fmla="val 205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3"/>
          <p:cNvSpPr txBox="1"/>
          <p:nvPr/>
        </p:nvSpPr>
        <p:spPr>
          <a:xfrm>
            <a:off x="4526280" y="16916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Default</a:t>
            </a:r>
            <a:endParaRPr b="0" i="0" sz="1800" u="none" cap="none" strike="noStrike">
              <a:solidFill>
                <a:schemeClr val="dk1"/>
              </a:solidFill>
              <a:latin typeface="Calibri"/>
              <a:ea typeface="Calibri"/>
              <a:cs typeface="Calibri"/>
              <a:sym typeface="Calibri"/>
            </a:endParaRPr>
          </a:p>
        </p:txBody>
      </p:sp>
      <p:sp>
        <p:nvSpPr>
          <p:cNvPr id="201" name="Google Shape;201;p13"/>
          <p:cNvSpPr/>
          <p:nvPr/>
        </p:nvSpPr>
        <p:spPr>
          <a:xfrm>
            <a:off x="4480560" y="2240280"/>
            <a:ext cx="3200400" cy="822960"/>
          </a:xfrm>
          <a:prstGeom prst="roundRect">
            <a:avLst>
              <a:gd fmla="val 6667" name="adj"/>
            </a:avLst>
          </a:prstGeom>
          <a:solidFill>
            <a:schemeClr val="lt1"/>
          </a:solidFill>
          <a:ln cap="flat" cmpd="sng" w="9525">
            <a:solidFill>
              <a:srgbClr val="C9D5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3"/>
          <p:cNvSpPr txBox="1"/>
          <p:nvPr/>
        </p:nvSpPr>
        <p:spPr>
          <a:xfrm>
            <a:off x="4572000" y="2240280"/>
            <a:ext cx="3017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Poisson GLM for the monthly default rate</a:t>
            </a:r>
            <a:endParaRPr b="0" i="0" sz="1200" u="none" cap="none" strike="noStrike">
              <a:solidFill>
                <a:schemeClr val="dk1"/>
              </a:solidFill>
              <a:latin typeface="Calibri"/>
              <a:ea typeface="Calibri"/>
              <a:cs typeface="Calibri"/>
              <a:sym typeface="Calibri"/>
            </a:endParaRPr>
          </a:p>
        </p:txBody>
      </p:sp>
      <p:sp>
        <p:nvSpPr>
          <p:cNvPr id="203" name="Google Shape;203;p13"/>
          <p:cNvSpPr txBox="1"/>
          <p:nvPr/>
        </p:nvSpPr>
        <p:spPr>
          <a:xfrm>
            <a:off x="4526280" y="3246120"/>
            <a:ext cx="3108960" cy="18288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Mark-to-market LTV (steeper above 80) moves with the scenario's house prices</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FICO, DTI, investor status, recent 30-day delinquency, pre-2009 vintage</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Loans 60+ days late on the tape start in the pipeline</a:t>
            </a:r>
            <a:endParaRPr b="0" i="0" sz="1300" u="none" cap="none" strike="noStrike">
              <a:solidFill>
                <a:schemeClr val="dk1"/>
              </a:solidFill>
              <a:latin typeface="Calibri"/>
              <a:ea typeface="Calibri"/>
              <a:cs typeface="Calibri"/>
              <a:sym typeface="Calibri"/>
            </a:endParaRPr>
          </a:p>
        </p:txBody>
      </p:sp>
      <p:sp>
        <p:nvSpPr>
          <p:cNvPr id="204" name="Google Shape;204;p13"/>
          <p:cNvSpPr/>
          <p:nvPr/>
        </p:nvSpPr>
        <p:spPr>
          <a:xfrm>
            <a:off x="8046720" y="1508760"/>
            <a:ext cx="3566160" cy="3657600"/>
          </a:xfrm>
          <a:prstGeom prst="roundRect">
            <a:avLst>
              <a:gd fmla="val 2051"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3"/>
          <p:cNvSpPr txBox="1"/>
          <p:nvPr/>
        </p:nvSpPr>
        <p:spPr>
          <a:xfrm>
            <a:off x="8275320" y="16916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Liquidation and loss</a:t>
            </a:r>
            <a:endParaRPr b="0" i="0" sz="1800" u="none" cap="none" strike="noStrike">
              <a:solidFill>
                <a:schemeClr val="dk1"/>
              </a:solidFill>
              <a:latin typeface="Calibri"/>
              <a:ea typeface="Calibri"/>
              <a:cs typeface="Calibri"/>
              <a:sym typeface="Calibri"/>
            </a:endParaRPr>
          </a:p>
        </p:txBody>
      </p:sp>
      <p:sp>
        <p:nvSpPr>
          <p:cNvPr id="206" name="Google Shape;206;p13"/>
          <p:cNvSpPr/>
          <p:nvPr/>
        </p:nvSpPr>
        <p:spPr>
          <a:xfrm>
            <a:off x="8229600" y="2240280"/>
            <a:ext cx="3200400" cy="822960"/>
          </a:xfrm>
          <a:prstGeom prst="roundRect">
            <a:avLst>
              <a:gd fmla="val 6667" name="adj"/>
            </a:avLst>
          </a:prstGeom>
          <a:solidFill>
            <a:schemeClr val="lt1"/>
          </a:solidFill>
          <a:ln cap="flat" cmpd="sng" w="9525">
            <a:solidFill>
              <a:srgbClr val="C9D5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3"/>
          <p:cNvSpPr txBox="1"/>
          <p:nvPr/>
        </p:nvSpPr>
        <p:spPr>
          <a:xfrm>
            <a:off x="8321040" y="2240280"/>
            <a:ext cx="3017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Loss = UPB + missed interest + costs − sale proceeds − MI</a:t>
            </a:r>
            <a:endParaRPr b="0" i="0" sz="1200" u="none" cap="none" strike="noStrike">
              <a:solidFill>
                <a:schemeClr val="dk1"/>
              </a:solidFill>
              <a:latin typeface="Calibri"/>
              <a:ea typeface="Calibri"/>
              <a:cs typeface="Calibri"/>
              <a:sym typeface="Calibri"/>
            </a:endParaRPr>
          </a:p>
        </p:txBody>
      </p:sp>
      <p:sp>
        <p:nvSpPr>
          <p:cNvPr id="208" name="Google Shape;208;p13"/>
          <p:cNvSpPr txBox="1"/>
          <p:nvPr/>
        </p:nvSpPr>
        <p:spPr>
          <a:xfrm>
            <a:off x="8275320" y="3246120"/>
            <a:ext cx="3108960" cy="18288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About 19 months from default to credit event; no cures</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Sale at a fitted 48% distressed discount to HPI value</a:t>
            </a:r>
            <a:endParaRPr b="0" i="0" sz="130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57% of distressed loans modified (0.57 pp rate cut)</a:t>
            </a:r>
            <a:endParaRPr b="0" i="0" sz="1300" u="none" cap="none" strike="noStrike">
              <a:solidFill>
                <a:schemeClr val="dk1"/>
              </a:solidFill>
              <a:latin typeface="Calibri"/>
              <a:ea typeface="Calibri"/>
              <a:cs typeface="Calibri"/>
              <a:sym typeface="Calibri"/>
            </a:endParaRPr>
          </a:p>
        </p:txBody>
      </p:sp>
      <p:sp>
        <p:nvSpPr>
          <p:cNvPr id="209" name="Google Shape;209;p13"/>
          <p:cNvSpPr/>
          <p:nvPr/>
        </p:nvSpPr>
        <p:spPr>
          <a:xfrm>
            <a:off x="548640" y="5394960"/>
            <a:ext cx="11064240" cy="777240"/>
          </a:xfrm>
          <a:prstGeom prst="roundRect">
            <a:avLst>
              <a:gd fmla="val 9412"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3"/>
          <p:cNvSpPr txBox="1"/>
          <p:nvPr/>
        </p:nvSpPr>
        <p:spPr>
          <a:xfrm>
            <a:off x="777240" y="5394960"/>
            <a:ext cx="106070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448"/>
              </a:buClr>
              <a:buSzPts val="1300"/>
              <a:buFont typeface="Calibri"/>
              <a:buNone/>
            </a:pPr>
            <a:r>
              <a:rPr b="1" i="0" lang="en-US" sz="1300" u="none" cap="none" strike="noStrike">
                <a:solidFill>
                  <a:srgbClr val="E3B448"/>
                </a:solidFill>
                <a:latin typeface="Calibri"/>
                <a:ea typeface="Calibri"/>
                <a:cs typeface="Calibri"/>
                <a:sym typeface="Calibri"/>
              </a:rPr>
              <a:t>Each month  </a:t>
            </a:r>
            <a:r>
              <a:rPr b="0" i="0" lang="en-US" sz="1300" u="none" cap="none" strike="noStrike">
                <a:solidFill>
                  <a:srgbClr val="FFFFFF"/>
                </a:solidFill>
                <a:latin typeface="Calibri"/>
                <a:ea typeface="Calibri"/>
                <a:cs typeface="Calibri"/>
                <a:sym typeface="Calibri"/>
              </a:rPr>
              <a:t>defaults, then scheduled amortization, then prepayments. Output per scenario, months 1–53: scheduled principal, prepayments, credit events, losses, modification losses, distressed balance.</a:t>
            </a:r>
            <a:endParaRPr b="0" i="0" sz="1300" u="none" cap="none" strike="noStrike">
              <a:solidFill>
                <a:schemeClr val="dk1"/>
              </a:solidFill>
              <a:latin typeface="Calibri"/>
              <a:ea typeface="Calibri"/>
              <a:cs typeface="Calibri"/>
              <a:sym typeface="Calibri"/>
            </a:endParaRPr>
          </a:p>
        </p:txBody>
      </p:sp>
      <p:sp>
        <p:nvSpPr>
          <p:cNvPr id="211" name="Google Shape;211;p13"/>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Calibrated on 48 million Freddie Mac loan-months</a:t>
            </a:r>
            <a:endParaRPr sz="2400"/>
          </a:p>
        </p:txBody>
      </p:sp>
      <p:pic>
        <p:nvPicPr>
          <p:cNvPr id="218" name="Google Shape;218;p14"/>
          <p:cNvPicPr preferRelativeResize="0"/>
          <p:nvPr/>
        </p:nvPicPr>
        <p:blipFill rotWithShape="1">
          <a:blip r:embed="rId3">
            <a:alphaModFix/>
          </a:blip>
          <a:srcRect b="0" l="0" r="0" t="0"/>
          <a:stretch/>
        </p:blipFill>
        <p:spPr>
          <a:xfrm>
            <a:off x="548640" y="1508760"/>
            <a:ext cx="4206240" cy="3657600"/>
          </a:xfrm>
          <a:prstGeom prst="rect">
            <a:avLst/>
          </a:prstGeom>
          <a:noFill/>
          <a:ln>
            <a:noFill/>
          </a:ln>
        </p:spPr>
      </p:pic>
      <p:pic>
        <p:nvPicPr>
          <p:cNvPr id="219" name="Google Shape;219;p14"/>
          <p:cNvPicPr preferRelativeResize="0"/>
          <p:nvPr/>
        </p:nvPicPr>
        <p:blipFill rotWithShape="1">
          <a:blip r:embed="rId4">
            <a:alphaModFix/>
          </a:blip>
          <a:srcRect b="0" l="0" r="0" t="0"/>
          <a:stretch/>
        </p:blipFill>
        <p:spPr>
          <a:xfrm>
            <a:off x="4846320" y="1508760"/>
            <a:ext cx="4206240" cy="3657600"/>
          </a:xfrm>
          <a:prstGeom prst="rect">
            <a:avLst/>
          </a:prstGeom>
          <a:noFill/>
          <a:ln>
            <a:noFill/>
          </a:ln>
        </p:spPr>
      </p:pic>
      <p:sp>
        <p:nvSpPr>
          <p:cNvPr id="220" name="Google Shape;220;p14"/>
          <p:cNvSpPr/>
          <p:nvPr/>
        </p:nvSpPr>
        <p:spPr>
          <a:xfrm>
            <a:off x="9281160" y="1508760"/>
            <a:ext cx="2331720" cy="4663440"/>
          </a:xfrm>
          <a:prstGeom prst="roundRect">
            <a:avLst>
              <a:gd fmla="val 3137"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txBox="1"/>
          <p:nvPr/>
        </p:nvSpPr>
        <p:spPr>
          <a:xfrm>
            <a:off x="9509760" y="1645920"/>
            <a:ext cx="187452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400"/>
              <a:buFont typeface="Cambria"/>
              <a:buNone/>
            </a:pPr>
            <a:r>
              <a:rPr b="1" i="0" lang="en-US" sz="2400" u="none" cap="none" strike="noStrike">
                <a:solidFill>
                  <a:schemeClr val="accent1"/>
                </a:solidFill>
                <a:latin typeface="Cambria"/>
                <a:ea typeface="Cambria"/>
                <a:cs typeface="Cambria"/>
                <a:sym typeface="Cambria"/>
              </a:rPr>
              <a:t>977,577</a:t>
            </a:r>
            <a:endParaRPr b="0" i="0" sz="2400" u="none" cap="none" strike="noStrike">
              <a:solidFill>
                <a:schemeClr val="dk1"/>
              </a:solidFill>
              <a:latin typeface="Calibri"/>
              <a:ea typeface="Calibri"/>
              <a:cs typeface="Calibri"/>
              <a:sym typeface="Calibri"/>
            </a:endParaRPr>
          </a:p>
        </p:txBody>
      </p:sp>
      <p:sp>
        <p:nvSpPr>
          <p:cNvPr id="222" name="Google Shape;222;p14"/>
          <p:cNvSpPr txBox="1"/>
          <p:nvPr/>
        </p:nvSpPr>
        <p:spPr>
          <a:xfrm>
            <a:off x="9509760" y="2212848"/>
            <a:ext cx="1874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loans, 27 vintages (2000–2026)</a:t>
            </a:r>
            <a:endParaRPr b="0" i="0" sz="1200" u="none" cap="none" strike="noStrike">
              <a:solidFill>
                <a:schemeClr val="dk1"/>
              </a:solidFill>
              <a:latin typeface="Calibri"/>
              <a:ea typeface="Calibri"/>
              <a:cs typeface="Calibri"/>
              <a:sym typeface="Calibri"/>
            </a:endParaRPr>
          </a:p>
        </p:txBody>
      </p:sp>
      <p:sp>
        <p:nvSpPr>
          <p:cNvPr id="223" name="Google Shape;223;p14"/>
          <p:cNvSpPr txBox="1"/>
          <p:nvPr/>
        </p:nvSpPr>
        <p:spPr>
          <a:xfrm>
            <a:off x="9509760" y="2761488"/>
            <a:ext cx="187452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400"/>
              <a:buFont typeface="Cambria"/>
              <a:buNone/>
            </a:pPr>
            <a:r>
              <a:rPr b="1" i="0" lang="en-US" sz="2400" u="none" cap="none" strike="noStrike">
                <a:solidFill>
                  <a:schemeClr val="accent1"/>
                </a:solidFill>
                <a:latin typeface="Cambria"/>
                <a:ea typeface="Cambria"/>
                <a:cs typeface="Cambria"/>
                <a:sym typeface="Cambria"/>
              </a:rPr>
              <a:t>19 mo</a:t>
            </a:r>
            <a:endParaRPr b="0" i="0" sz="2400" u="none" cap="none" strike="noStrike">
              <a:solidFill>
                <a:schemeClr val="dk1"/>
              </a:solidFill>
              <a:latin typeface="Calibri"/>
              <a:ea typeface="Calibri"/>
              <a:cs typeface="Calibri"/>
              <a:sym typeface="Calibri"/>
            </a:endParaRPr>
          </a:p>
        </p:txBody>
      </p:sp>
      <p:sp>
        <p:nvSpPr>
          <p:cNvPr id="224" name="Google Shape;224;p14"/>
          <p:cNvSpPr txBox="1"/>
          <p:nvPr/>
        </p:nvSpPr>
        <p:spPr>
          <a:xfrm>
            <a:off x="9509760" y="3328416"/>
            <a:ext cx="1874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median time to credit event</a:t>
            </a:r>
            <a:endParaRPr b="0" i="0" sz="1200" u="none" cap="none" strike="noStrike">
              <a:solidFill>
                <a:schemeClr val="dk1"/>
              </a:solidFill>
              <a:latin typeface="Calibri"/>
              <a:ea typeface="Calibri"/>
              <a:cs typeface="Calibri"/>
              <a:sym typeface="Calibri"/>
            </a:endParaRPr>
          </a:p>
        </p:txBody>
      </p:sp>
      <p:sp>
        <p:nvSpPr>
          <p:cNvPr id="225" name="Google Shape;225;p14"/>
          <p:cNvSpPr txBox="1"/>
          <p:nvPr/>
        </p:nvSpPr>
        <p:spPr>
          <a:xfrm>
            <a:off x="9509760" y="3877056"/>
            <a:ext cx="187452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400"/>
              <a:buFont typeface="Cambria"/>
              <a:buNone/>
            </a:pPr>
            <a:r>
              <a:rPr b="1" i="0" lang="en-US" sz="2400" u="none" cap="none" strike="noStrike">
                <a:solidFill>
                  <a:schemeClr val="accent1"/>
                </a:solidFill>
                <a:latin typeface="Cambria"/>
                <a:ea typeface="Cambria"/>
                <a:cs typeface="Cambria"/>
                <a:sym typeface="Cambria"/>
              </a:rPr>
              <a:t>48%</a:t>
            </a:r>
            <a:endParaRPr b="0" i="0" sz="2400" u="none" cap="none" strike="noStrike">
              <a:solidFill>
                <a:schemeClr val="dk1"/>
              </a:solidFill>
              <a:latin typeface="Calibri"/>
              <a:ea typeface="Calibri"/>
              <a:cs typeface="Calibri"/>
              <a:sym typeface="Calibri"/>
            </a:endParaRPr>
          </a:p>
        </p:txBody>
      </p:sp>
      <p:sp>
        <p:nvSpPr>
          <p:cNvPr id="226" name="Google Shape;226;p14"/>
          <p:cNvSpPr txBox="1"/>
          <p:nvPr/>
        </p:nvSpPr>
        <p:spPr>
          <a:xfrm>
            <a:off x="9509760" y="4443984"/>
            <a:ext cx="1874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distressed-sale discount</a:t>
            </a:r>
            <a:endParaRPr b="0" i="0" sz="1200" u="none" cap="none" strike="noStrike">
              <a:solidFill>
                <a:schemeClr val="dk1"/>
              </a:solidFill>
              <a:latin typeface="Calibri"/>
              <a:ea typeface="Calibri"/>
              <a:cs typeface="Calibri"/>
              <a:sym typeface="Calibri"/>
            </a:endParaRPr>
          </a:p>
        </p:txBody>
      </p:sp>
      <p:sp>
        <p:nvSpPr>
          <p:cNvPr id="227" name="Google Shape;227;p14"/>
          <p:cNvSpPr txBox="1"/>
          <p:nvPr/>
        </p:nvSpPr>
        <p:spPr>
          <a:xfrm>
            <a:off x="9509760" y="4992624"/>
            <a:ext cx="187452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400"/>
              <a:buFont typeface="Cambria"/>
              <a:buNone/>
            </a:pPr>
            <a:r>
              <a:rPr b="1" i="0" lang="en-US" sz="2400" u="none" cap="none" strike="noStrike">
                <a:solidFill>
                  <a:schemeClr val="accent1"/>
                </a:solidFill>
                <a:latin typeface="Cambria"/>
                <a:ea typeface="Cambria"/>
                <a:cs typeface="Cambria"/>
                <a:sym typeface="Cambria"/>
              </a:rPr>
              <a:t>45.5%</a:t>
            </a:r>
            <a:endParaRPr b="0" i="0" sz="2400" u="none" cap="none" strike="noStrike">
              <a:solidFill>
                <a:schemeClr val="dk1"/>
              </a:solidFill>
              <a:latin typeface="Calibri"/>
              <a:ea typeface="Calibri"/>
              <a:cs typeface="Calibri"/>
              <a:sym typeface="Calibri"/>
            </a:endParaRPr>
          </a:p>
        </p:txBody>
      </p:sp>
      <p:sp>
        <p:nvSpPr>
          <p:cNvPr id="228" name="Google Shape;228;p14"/>
          <p:cNvSpPr txBox="1"/>
          <p:nvPr/>
        </p:nvSpPr>
        <p:spPr>
          <a:xfrm>
            <a:off x="9509760" y="5559552"/>
            <a:ext cx="18745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model severity vs 44.4% observed</a:t>
            </a:r>
            <a:endParaRPr b="0" i="0" sz="1200" u="none" cap="none" strike="noStrike">
              <a:solidFill>
                <a:schemeClr val="dk1"/>
              </a:solidFill>
              <a:latin typeface="Calibri"/>
              <a:ea typeface="Calibri"/>
              <a:cs typeface="Calibri"/>
              <a:sym typeface="Calibri"/>
            </a:endParaRPr>
          </a:p>
        </p:txBody>
      </p:sp>
      <p:sp>
        <p:nvSpPr>
          <p:cNvPr id="229" name="Google Shape;229;p14"/>
          <p:cNvSpPr txBox="1"/>
          <p:nvPr/>
        </p:nvSpPr>
        <p:spPr>
          <a:xfrm>
            <a:off x="548640" y="5303520"/>
            <a:ext cx="8503920" cy="86868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Prepayment: weighted least squares on observed speeds by incentive, age and burnout</a:t>
            </a:r>
            <a:endParaRPr b="0" i="0" sz="1200" u="none" cap="none" strike="noStrike">
              <a:solidFill>
                <a:schemeClr val="dk1"/>
              </a:solidFill>
              <a:latin typeface="Calibri"/>
              <a:ea typeface="Calibri"/>
              <a:cs typeface="Calibri"/>
              <a:sym typeface="Calibri"/>
            </a:endParaRPr>
          </a:p>
          <a:p>
            <a:pPr indent="-177800" lvl="0" marL="177800" marR="0" rtl="0" algn="l">
              <a:spcBef>
                <a:spcPts val="40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Default: Poisson GLM on 38M loan-months and 22,598 default spells, every coefficient of the expected sign</a:t>
            </a:r>
            <a:endParaRPr b="0" i="0" sz="1200" u="none" cap="none" strike="noStrike">
              <a:solidFill>
                <a:schemeClr val="dk1"/>
              </a:solidFill>
              <a:latin typeface="Calibri"/>
              <a:ea typeface="Calibri"/>
              <a:cs typeface="Calibri"/>
              <a:sym typeface="Calibri"/>
            </a:endParaRPr>
          </a:p>
        </p:txBody>
      </p:sp>
      <p:sp>
        <p:nvSpPr>
          <p:cNvPr id="230" name="Google Shape;230;p14"/>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The pool pays down slowly until rates fall below its coupon</a:t>
            </a:r>
            <a:endParaRPr sz="2400"/>
          </a:p>
        </p:txBody>
      </p:sp>
      <p:pic>
        <p:nvPicPr>
          <p:cNvPr id="237" name="Google Shape;237;p15"/>
          <p:cNvPicPr preferRelativeResize="0"/>
          <p:nvPr/>
        </p:nvPicPr>
        <p:blipFill rotWithShape="1">
          <a:blip r:embed="rId3">
            <a:alphaModFix/>
          </a:blip>
          <a:srcRect b="0" l="0" r="0" t="0"/>
          <a:stretch/>
        </p:blipFill>
        <p:spPr>
          <a:xfrm>
            <a:off x="548640" y="1508760"/>
            <a:ext cx="6035040" cy="4663440"/>
          </a:xfrm>
          <a:prstGeom prst="rect">
            <a:avLst/>
          </a:prstGeom>
          <a:noFill/>
          <a:ln>
            <a:noFill/>
          </a:ln>
        </p:spPr>
      </p:pic>
      <p:graphicFrame>
        <p:nvGraphicFramePr>
          <p:cNvPr id="238" name="Google Shape;238;p15"/>
          <p:cNvGraphicFramePr/>
          <p:nvPr/>
        </p:nvGraphicFramePr>
        <p:xfrm>
          <a:off x="6858000" y="1600200"/>
          <a:ext cx="3000000" cy="3000000"/>
        </p:xfrm>
        <a:graphic>
          <a:graphicData uri="http://schemas.openxmlformats.org/drawingml/2006/table">
            <a:tbl>
              <a:tblPr>
                <a:noFill/>
                <a:tableStyleId>{25C77E93-19F6-4675-AD0D-53BB172675F8}</a:tableStyleId>
              </a:tblPr>
              <a:tblGrid>
                <a:gridCol w="1097275"/>
                <a:gridCol w="914400"/>
                <a:gridCol w="914400"/>
                <a:gridCol w="914400"/>
                <a:gridCol w="914400"/>
              </a:tblGrid>
              <a:tr h="411475">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Scenario</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Year-1 CPR</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Month 24</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At the call</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Half paid by</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411475">
                <a:tc>
                  <a:txBody>
                    <a:bodyPr/>
                    <a:lstStyle/>
                    <a:p>
                      <a:pPr indent="0" lvl="0" marL="0" marR="0" rtl="0" algn="l">
                        <a:spcBef>
                          <a:spcPts val="0"/>
                        </a:spcBef>
                        <a:spcAft>
                          <a:spcPts val="0"/>
                        </a:spcAft>
                        <a:buClr>
                          <a:srgbClr val="2E8B57"/>
                        </a:buClr>
                        <a:buSzPts val="1300"/>
                        <a:buFont typeface="Calibri"/>
                        <a:buNone/>
                      </a:pPr>
                      <a:r>
                        <a:rPr b="1" lang="en-US" sz="1300" u="none" cap="none" strike="noStrike">
                          <a:solidFill>
                            <a:srgbClr val="2E8B57"/>
                          </a:solidFill>
                        </a:rPr>
                        <a:t>Good</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10.9%</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$13.8bn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$6.83bn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month 40</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1F6F8B"/>
                        </a:buClr>
                        <a:buSzPts val="1300"/>
                        <a:buFont typeface="Calibri"/>
                        <a:buNone/>
                      </a:pPr>
                      <a:r>
                        <a:rPr b="1" lang="en-US" sz="1300" u="none" cap="none" strike="noStrike">
                          <a:solidFill>
                            <a:srgbClr val="1F6F8B"/>
                          </a:solidFill>
                        </a:rPr>
                        <a:t>Base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10.6%</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$14.1bn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$7.33bn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month 42</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D9922E"/>
                        </a:buClr>
                        <a:buSzPts val="1300"/>
                        <a:buFont typeface="Calibri"/>
                        <a:buNone/>
                      </a:pPr>
                      <a:r>
                        <a:rPr b="1" lang="en-US" sz="1300" u="none" cap="none" strike="noStrike">
                          <a:solidFill>
                            <a:srgbClr val="D9922E"/>
                          </a:solidFill>
                        </a:rPr>
                        <a:t>Moderate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7.6%</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$15.9bn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300" u="none" cap="none" strike="noStrike">
                          <a:solidFill>
                            <a:srgbClr val="1B2A34"/>
                          </a:solidFill>
                        </a:rPr>
                        <a:t>$9.30bn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300" u="none" cap="none" strike="noStrike">
                          <a:solidFill>
                            <a:srgbClr val="1B2A34"/>
                          </a:solidFill>
                        </a:rPr>
                        <a:t>month 52</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B23A3A"/>
                        </a:buClr>
                        <a:buSzPts val="1300"/>
                        <a:buFont typeface="Calibri"/>
                        <a:buNone/>
                      </a:pPr>
                      <a:r>
                        <a:rPr b="1" lang="en-US" sz="1300" u="none" cap="none" strike="noStrike">
                          <a:solidFill>
                            <a:srgbClr val="B23A3A"/>
                          </a:solidFill>
                        </a:rPr>
                        <a:t>Severe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8.0%</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$15.0bn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$7.17bn</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month 43</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239" name="Google Shape;239;p15"/>
          <p:cNvSpPr txBox="1"/>
          <p:nvPr/>
        </p:nvSpPr>
        <p:spPr>
          <a:xfrm>
            <a:off x="6858000" y="4023360"/>
            <a:ext cx="4754880" cy="2148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Slow start. </a:t>
            </a:r>
            <a:r>
              <a:rPr b="0" i="0" lang="en-US" sz="1400" u="none" cap="none" strike="noStrike">
                <a:solidFill>
                  <a:schemeClr val="dk1"/>
                </a:solidFill>
                <a:latin typeface="Calibri"/>
                <a:ea typeface="Calibri"/>
                <a:cs typeface="Calibri"/>
                <a:sym typeface="Calibri"/>
              </a:rPr>
              <a:t>At 7.28% the pool is out of the money, so year-1 CPR is only 8–11%.</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Then fast. </a:t>
            </a:r>
            <a:r>
              <a:rPr b="0" i="0" lang="en-US" sz="1400" u="none" cap="none" strike="noStrike">
                <a:solidFill>
                  <a:schemeClr val="dk1"/>
                </a:solidFill>
                <a:latin typeface="Calibri"/>
                <a:ea typeface="Calibri"/>
                <a:cs typeface="Calibri"/>
                <a:sym typeface="Calibri"/>
              </a:rPr>
              <a:t>Once rates fall below the coupon, CPR reaches about 24–31% by the call.</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Most extension: moderate. </a:t>
            </a:r>
            <a:r>
              <a:rPr b="0" i="0" lang="en-US" sz="1400" u="none" cap="none" strike="noStrike">
                <a:solidFill>
                  <a:schemeClr val="dk1"/>
                </a:solidFill>
                <a:latin typeface="Calibri"/>
                <a:ea typeface="Calibri"/>
                <a:cs typeface="Calibri"/>
                <a:sym typeface="Calibri"/>
              </a:rPr>
              <a:t>48% of today's pool is still outstanding at the call.</a:t>
            </a:r>
            <a:endParaRPr b="0" i="0" sz="1400" u="none" cap="none" strike="noStrike">
              <a:solidFill>
                <a:schemeClr val="dk1"/>
              </a:solidFill>
              <a:latin typeface="Calibri"/>
              <a:ea typeface="Calibri"/>
              <a:cs typeface="Calibri"/>
              <a:sym typeface="Calibri"/>
            </a:endParaRPr>
          </a:p>
        </p:txBody>
      </p:sp>
      <p:sp>
        <p:nvSpPr>
          <p:cNvPr id="240" name="Google Shape;240;p15"/>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Pool losses of 0.20–0.37% never reach A-1, M-1 or M-2</a:t>
            </a:r>
            <a:endParaRPr sz="2400"/>
          </a:p>
        </p:txBody>
      </p:sp>
      <p:graphicFrame>
        <p:nvGraphicFramePr>
          <p:cNvPr id="247" name="Google Shape;247;p16"/>
          <p:cNvGraphicFramePr/>
          <p:nvPr/>
        </p:nvGraphicFramePr>
        <p:xfrm>
          <a:off x="548640" y="1554480"/>
          <a:ext cx="3000000" cy="3000000"/>
        </p:xfrm>
        <a:graphic>
          <a:graphicData uri="http://schemas.openxmlformats.org/drawingml/2006/table">
            <a:tbl>
              <a:tblPr>
                <a:noFill/>
                <a:tableStyleId>{25C77E93-19F6-4675-AD0D-53BB172675F8}</a:tableStyleId>
              </a:tblPr>
              <a:tblGrid>
                <a:gridCol w="2011675"/>
                <a:gridCol w="1188725"/>
                <a:gridCol w="1188725"/>
                <a:gridCol w="1188725"/>
                <a:gridCol w="1188725"/>
              </a:tblGrid>
              <a:tr h="438900">
                <a:tc>
                  <a:txBody>
                    <a:bodyPr/>
                    <a:lstStyle/>
                    <a:p>
                      <a:pPr indent="0" lvl="0" marL="0" marR="0" rtl="0" algn="ctr">
                        <a:spcBef>
                          <a:spcPts val="0"/>
                        </a:spcBef>
                        <a:spcAft>
                          <a:spcPts val="0"/>
                        </a:spcAft>
                        <a:buClr>
                          <a:schemeClr val="dk1"/>
                        </a:buClr>
                        <a:buSzPts val="1300"/>
                        <a:buFont typeface="Calibri"/>
                        <a:buNone/>
                      </a:pPr>
                      <a:r>
                        <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Good</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2E8B57"/>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Base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F6F8B"/>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Moderate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D992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rPr>
                        <a:t>Severe</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B23A3A"/>
                    </a:solidFill>
                  </a:tcPr>
                </a:tc>
              </a:tr>
              <a:tr h="438900">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HPI change to 2031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+32%</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+22%</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−14%</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−21%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Credit events</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$121.8mm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$124.0mm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$136.0mm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$149.3mm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Liquidation losses</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$46.4mm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$50.3mm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$68.6mm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$84.6mm</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Loss, % of cut-off</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300" u="none" cap="none" strike="noStrike">
                          <a:solidFill>
                            <a:srgbClr val="1B2A34"/>
                          </a:solidFill>
                        </a:rPr>
                        <a:t>0.204%</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300" u="none" cap="none" strike="noStrike">
                          <a:solidFill>
                            <a:srgbClr val="1B2A34"/>
                          </a:solidFill>
                        </a:rPr>
                        <a:t>0.221%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300" u="none" cap="none" strike="noStrike">
                          <a:solidFill>
                            <a:srgbClr val="1B2A34"/>
                          </a:solidFill>
                        </a:rPr>
                        <a:t>0.301%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300" u="none" cap="none" strike="noStrike">
                          <a:solidFill>
                            <a:srgbClr val="1B2A34"/>
                          </a:solidFill>
                        </a:rPr>
                        <a:t>0.371%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1B2A34"/>
                        </a:buClr>
                        <a:buSzPts val="1300"/>
                        <a:buFont typeface="Calibri"/>
                        <a:buNone/>
                      </a:pPr>
                      <a:r>
                        <a:rPr b="1" lang="en-US" sz="1300" u="none" cap="none" strike="noStrike">
                          <a:solidFill>
                            <a:srgbClr val="1B2A34"/>
                          </a:solidFill>
                        </a:rPr>
                        <a:t>Average severity</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38.1%</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40.6%</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50.4%</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300" u="none" cap="none" strike="noStrike">
                          <a:solidFill>
                            <a:srgbClr val="1B2A34"/>
                          </a:solidFill>
                        </a:rPr>
                        <a:t>56.7%</a:t>
                      </a:r>
                      <a:endParaRPr sz="13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248" name="Google Shape;248;p16"/>
          <p:cNvSpPr txBox="1"/>
          <p:nvPr/>
        </p:nvSpPr>
        <p:spPr>
          <a:xfrm>
            <a:off x="548640" y="4389120"/>
            <a:ext cx="6766560" cy="1783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Good and base </a:t>
            </a:r>
            <a:r>
              <a:rPr b="0" i="0" lang="en-US" sz="1400" u="none" cap="none" strike="noStrike">
                <a:solidFill>
                  <a:schemeClr val="dk1"/>
                </a:solidFill>
                <a:latin typeface="Calibri"/>
                <a:ea typeface="Calibri"/>
                <a:cs typeface="Calibri"/>
                <a:sym typeface="Calibri"/>
              </a:rPr>
              <a:t>stay inside B-3H; moderate and severe run into B-2H. Freddie Mac keeps both.</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M-2B attaches at 1.90%, </a:t>
            </a:r>
            <a:r>
              <a:rPr b="0" i="0" lang="en-US" sz="1400" u="none" cap="none" strike="noStrike">
                <a:solidFill>
                  <a:schemeClr val="dk1"/>
                </a:solidFill>
                <a:latin typeface="Calibri"/>
                <a:ea typeface="Calibri"/>
                <a:cs typeface="Calibri"/>
                <a:sym typeface="Calibri"/>
              </a:rPr>
              <a:t>about 5 times the severe-case loss. The worst case uses about a fifth of the cushion.</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So the question for investors </a:t>
            </a:r>
            <a:r>
              <a:rPr b="0" i="0" lang="en-US" sz="1400" u="none" cap="none" strike="noStrike">
                <a:solidFill>
                  <a:schemeClr val="dk1"/>
                </a:solidFill>
                <a:latin typeface="Calibri"/>
                <a:ea typeface="Calibri"/>
                <a:cs typeface="Calibri"/>
                <a:sym typeface="Calibri"/>
              </a:rPr>
              <a:t>is not whether they lose principal but when they get it back.</a:t>
            </a:r>
            <a:endParaRPr b="0" i="0" sz="1400" u="none" cap="none" strike="noStrike">
              <a:solidFill>
                <a:schemeClr val="dk1"/>
              </a:solidFill>
              <a:latin typeface="Calibri"/>
              <a:ea typeface="Calibri"/>
              <a:cs typeface="Calibri"/>
              <a:sym typeface="Calibri"/>
            </a:endParaRPr>
          </a:p>
        </p:txBody>
      </p:sp>
      <p:sp>
        <p:nvSpPr>
          <p:cNvPr id="249" name="Google Shape;249;p16"/>
          <p:cNvSpPr txBox="1"/>
          <p:nvPr/>
        </p:nvSpPr>
        <p:spPr>
          <a:xfrm>
            <a:off x="7680960" y="1325880"/>
            <a:ext cx="39319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Tranche stack, % of cut-off</a:t>
            </a:r>
            <a:endParaRPr b="0" i="0" sz="1300" u="none" cap="none" strike="noStrike">
              <a:solidFill>
                <a:schemeClr val="dk1"/>
              </a:solidFill>
              <a:latin typeface="Calibri"/>
              <a:ea typeface="Calibri"/>
              <a:cs typeface="Calibri"/>
              <a:sym typeface="Calibri"/>
            </a:endParaRPr>
          </a:p>
        </p:txBody>
      </p:sp>
      <p:sp>
        <p:nvSpPr>
          <p:cNvPr id="250" name="Google Shape;250;p16"/>
          <p:cNvSpPr/>
          <p:nvPr/>
        </p:nvSpPr>
        <p:spPr>
          <a:xfrm>
            <a:off x="8549640" y="5806440"/>
            <a:ext cx="1143000" cy="228600"/>
          </a:xfrm>
          <a:prstGeom prst="rect">
            <a:avLst/>
          </a:prstGeom>
          <a:solidFill>
            <a:srgbClr val="B4C2C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8549640" y="4709160"/>
            <a:ext cx="1143000" cy="1097280"/>
          </a:xfrm>
          <a:prstGeom prst="rect">
            <a:avLst/>
          </a:prstGeom>
          <a:solidFill>
            <a:srgbClr val="CBD5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p:nvPr/>
        </p:nvSpPr>
        <p:spPr>
          <a:xfrm>
            <a:off x="8549640" y="4297680"/>
            <a:ext cx="1143000" cy="411480"/>
          </a:xfrm>
          <a:prstGeom prst="rect">
            <a:avLst/>
          </a:prstGeom>
          <a:solidFill>
            <a:srgbClr val="B4C2C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a:off x="8549640" y="4137660"/>
            <a:ext cx="1143000" cy="160020"/>
          </a:xfrm>
          <a:prstGeom prst="rect">
            <a:avLst/>
          </a:prstGeom>
          <a:solidFill>
            <a:srgbClr val="1F6F8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8549640" y="3977640"/>
            <a:ext cx="1143000" cy="160020"/>
          </a:xfrm>
          <a:prstGeom prst="rect">
            <a:avLst/>
          </a:prstGeom>
          <a:solidFill>
            <a:srgbClr val="2D88A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a:off x="8549640" y="2811780"/>
            <a:ext cx="1143000" cy="1165860"/>
          </a:xfrm>
          <a:prstGeom prst="rect">
            <a:avLst/>
          </a:prstGeom>
          <a:solidFill>
            <a:srgbClr val="1F6F8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6"/>
          <p:cNvSpPr/>
          <p:nvPr/>
        </p:nvSpPr>
        <p:spPr>
          <a:xfrm>
            <a:off x="8549640" y="1645920"/>
            <a:ext cx="1143000" cy="1165860"/>
          </a:xfrm>
          <a:prstGeom prst="rect">
            <a:avLst/>
          </a:prstGeom>
          <a:solidFill>
            <a:srgbClr val="2D88A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txBox="1"/>
          <p:nvPr/>
        </p:nvSpPr>
        <p:spPr>
          <a:xfrm>
            <a:off x="9802368" y="208254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8B"/>
              </a:buClr>
              <a:buSzPts val="1100"/>
              <a:buFont typeface="Calibri"/>
              <a:buNone/>
            </a:pPr>
            <a:r>
              <a:rPr b="1" i="0" lang="en-US" sz="1100" u="none" cap="none" strike="noStrike">
                <a:solidFill>
                  <a:srgbClr val="1F6F8B"/>
                </a:solidFill>
                <a:latin typeface="Calibri"/>
                <a:ea typeface="Calibri"/>
                <a:cs typeface="Calibri"/>
                <a:sym typeface="Calibri"/>
              </a:rPr>
              <a:t>A-1   3.525–4.80%</a:t>
            </a:r>
            <a:endParaRPr b="0" i="0" sz="1100" u="none" cap="none" strike="noStrike">
              <a:solidFill>
                <a:schemeClr val="dk1"/>
              </a:solidFill>
              <a:latin typeface="Calibri"/>
              <a:ea typeface="Calibri"/>
              <a:cs typeface="Calibri"/>
              <a:sym typeface="Calibri"/>
            </a:endParaRPr>
          </a:p>
        </p:txBody>
      </p:sp>
      <p:sp>
        <p:nvSpPr>
          <p:cNvPr id="258" name="Google Shape;258;p16"/>
          <p:cNvSpPr txBox="1"/>
          <p:nvPr/>
        </p:nvSpPr>
        <p:spPr>
          <a:xfrm>
            <a:off x="9802368" y="324840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8B"/>
              </a:buClr>
              <a:buSzPts val="1100"/>
              <a:buFont typeface="Calibri"/>
              <a:buNone/>
            </a:pPr>
            <a:r>
              <a:rPr b="1" i="0" lang="en-US" sz="1100" u="none" cap="none" strike="noStrike">
                <a:solidFill>
                  <a:srgbClr val="1F6F8B"/>
                </a:solidFill>
                <a:latin typeface="Calibri"/>
                <a:ea typeface="Calibri"/>
                <a:cs typeface="Calibri"/>
                <a:sym typeface="Calibri"/>
              </a:rPr>
              <a:t>M-1   2.25–3.525%</a:t>
            </a:r>
            <a:endParaRPr b="0" i="0" sz="1100" u="none" cap="none" strike="noStrike">
              <a:solidFill>
                <a:schemeClr val="dk1"/>
              </a:solidFill>
              <a:latin typeface="Calibri"/>
              <a:ea typeface="Calibri"/>
              <a:cs typeface="Calibri"/>
              <a:sym typeface="Calibri"/>
            </a:endParaRPr>
          </a:p>
        </p:txBody>
      </p:sp>
      <p:sp>
        <p:nvSpPr>
          <p:cNvPr id="259" name="Google Shape;259;p16"/>
          <p:cNvSpPr txBox="1"/>
          <p:nvPr/>
        </p:nvSpPr>
        <p:spPr>
          <a:xfrm>
            <a:off x="9802368" y="399135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8B"/>
              </a:buClr>
              <a:buSzPts val="1100"/>
              <a:buFont typeface="Calibri"/>
              <a:buNone/>
            </a:pPr>
            <a:r>
              <a:rPr b="1" i="0" lang="en-US" sz="1100" u="none" cap="none" strike="noStrike">
                <a:solidFill>
                  <a:srgbClr val="1F6F8B"/>
                </a:solidFill>
                <a:latin typeface="Calibri"/>
                <a:ea typeface="Calibri"/>
                <a:cs typeface="Calibri"/>
                <a:sym typeface="Calibri"/>
              </a:rPr>
              <a:t>M-2A/B   1.90–2.25%</a:t>
            </a:r>
            <a:endParaRPr b="0" i="0" sz="1100" u="none" cap="none" strike="noStrike">
              <a:solidFill>
                <a:schemeClr val="dk1"/>
              </a:solidFill>
              <a:latin typeface="Calibri"/>
              <a:ea typeface="Calibri"/>
              <a:cs typeface="Calibri"/>
              <a:sym typeface="Calibri"/>
            </a:endParaRPr>
          </a:p>
        </p:txBody>
      </p:sp>
      <p:sp>
        <p:nvSpPr>
          <p:cNvPr id="260" name="Google Shape;260;p16"/>
          <p:cNvSpPr txBox="1"/>
          <p:nvPr/>
        </p:nvSpPr>
        <p:spPr>
          <a:xfrm>
            <a:off x="9802368" y="435711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4"/>
              </a:buClr>
              <a:buSzPts val="1100"/>
              <a:buFont typeface="Calibri"/>
              <a:buNone/>
            </a:pPr>
            <a:r>
              <a:rPr b="0" i="0" lang="en-US" sz="1100" u="none" cap="none" strike="noStrike">
                <a:solidFill>
                  <a:srgbClr val="1B2A34"/>
                </a:solidFill>
                <a:latin typeface="Calibri"/>
                <a:ea typeface="Calibri"/>
                <a:cs typeface="Calibri"/>
                <a:sym typeface="Calibri"/>
              </a:rPr>
              <a:t>B-1H   1.45–1.90%</a:t>
            </a:r>
            <a:endParaRPr b="0" i="0" sz="1100" u="none" cap="none" strike="noStrike">
              <a:solidFill>
                <a:schemeClr val="dk1"/>
              </a:solidFill>
              <a:latin typeface="Calibri"/>
              <a:ea typeface="Calibri"/>
              <a:cs typeface="Calibri"/>
              <a:sym typeface="Calibri"/>
            </a:endParaRPr>
          </a:p>
        </p:txBody>
      </p:sp>
      <p:sp>
        <p:nvSpPr>
          <p:cNvPr id="261" name="Google Shape;261;p16"/>
          <p:cNvSpPr txBox="1"/>
          <p:nvPr/>
        </p:nvSpPr>
        <p:spPr>
          <a:xfrm>
            <a:off x="9802368" y="511149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4"/>
              </a:buClr>
              <a:buSzPts val="1100"/>
              <a:buFont typeface="Calibri"/>
              <a:buNone/>
            </a:pPr>
            <a:r>
              <a:rPr b="0" i="0" lang="en-US" sz="1100" u="none" cap="none" strike="noStrike">
                <a:solidFill>
                  <a:srgbClr val="1B2A34"/>
                </a:solidFill>
                <a:latin typeface="Calibri"/>
                <a:ea typeface="Calibri"/>
                <a:cs typeface="Calibri"/>
                <a:sym typeface="Calibri"/>
              </a:rPr>
              <a:t>B-2H   0.25–1.45%</a:t>
            </a:r>
            <a:endParaRPr b="0" i="0" sz="1100" u="none" cap="none" strike="noStrike">
              <a:solidFill>
                <a:schemeClr val="dk1"/>
              </a:solidFill>
              <a:latin typeface="Calibri"/>
              <a:ea typeface="Calibri"/>
              <a:cs typeface="Calibri"/>
              <a:sym typeface="Calibri"/>
            </a:endParaRPr>
          </a:p>
        </p:txBody>
      </p:sp>
      <p:sp>
        <p:nvSpPr>
          <p:cNvPr id="262" name="Google Shape;262;p16"/>
          <p:cNvSpPr txBox="1"/>
          <p:nvPr/>
        </p:nvSpPr>
        <p:spPr>
          <a:xfrm>
            <a:off x="9802368" y="5774436"/>
            <a:ext cx="1920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4"/>
              </a:buClr>
              <a:buSzPts val="1100"/>
              <a:buFont typeface="Calibri"/>
              <a:buNone/>
            </a:pPr>
            <a:r>
              <a:rPr b="0" i="0" lang="en-US" sz="1100" u="none" cap="none" strike="noStrike">
                <a:solidFill>
                  <a:srgbClr val="1B2A34"/>
                </a:solidFill>
                <a:latin typeface="Calibri"/>
                <a:ea typeface="Calibri"/>
                <a:cs typeface="Calibri"/>
                <a:sym typeface="Calibri"/>
              </a:rPr>
              <a:t>B-3H   0–0.25%</a:t>
            </a:r>
            <a:endParaRPr b="0" i="0" sz="1100" u="none" cap="none" strike="noStrike">
              <a:solidFill>
                <a:schemeClr val="dk1"/>
              </a:solidFill>
              <a:latin typeface="Calibri"/>
              <a:ea typeface="Calibri"/>
              <a:cs typeface="Calibri"/>
              <a:sym typeface="Calibri"/>
            </a:endParaRPr>
          </a:p>
        </p:txBody>
      </p:sp>
      <p:sp>
        <p:nvSpPr>
          <p:cNvPr id="263" name="Google Shape;263;p16"/>
          <p:cNvSpPr txBox="1"/>
          <p:nvPr/>
        </p:nvSpPr>
        <p:spPr>
          <a:xfrm>
            <a:off x="7680960" y="6108192"/>
            <a:ext cx="39319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Offered notes in blue; grey is retained by Freddie Mac</a:t>
            </a:r>
            <a:endParaRPr b="0" i="0" sz="1000" u="none" cap="none" strike="noStrike">
              <a:solidFill>
                <a:schemeClr val="dk1"/>
              </a:solidFill>
              <a:latin typeface="Calibri"/>
              <a:ea typeface="Calibri"/>
              <a:cs typeface="Calibri"/>
              <a:sym typeface="Calibri"/>
            </a:endParaRPr>
          </a:p>
        </p:txBody>
      </p:sp>
      <p:cxnSp>
        <p:nvCxnSpPr>
          <p:cNvPr id="264" name="Google Shape;264;p16"/>
          <p:cNvCxnSpPr/>
          <p:nvPr/>
        </p:nvCxnSpPr>
        <p:spPr>
          <a:xfrm>
            <a:off x="8412480" y="5695798"/>
            <a:ext cx="1280160" cy="0"/>
          </a:xfrm>
          <a:prstGeom prst="straightConnector1">
            <a:avLst/>
          </a:prstGeom>
          <a:noFill/>
          <a:ln cap="flat" cmpd="sng" w="31750">
            <a:solidFill>
              <a:srgbClr val="B23A3A"/>
            </a:solidFill>
            <a:prstDash val="solid"/>
            <a:round/>
            <a:headEnd len="sm" w="sm" type="none"/>
            <a:tailEnd len="sm" w="sm" type="none"/>
          </a:ln>
        </p:spPr>
      </p:cxnSp>
      <p:sp>
        <p:nvSpPr>
          <p:cNvPr id="265" name="Google Shape;265;p16"/>
          <p:cNvSpPr txBox="1"/>
          <p:nvPr/>
        </p:nvSpPr>
        <p:spPr>
          <a:xfrm>
            <a:off x="7498080" y="5238598"/>
            <a:ext cx="914400" cy="4572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B23A3A"/>
              </a:buClr>
              <a:buSzPts val="1100"/>
              <a:buFont typeface="Calibri"/>
              <a:buNone/>
            </a:pPr>
            <a:r>
              <a:rPr b="1" i="0" lang="en-US" sz="1100" u="none" cap="none" strike="noStrike">
                <a:solidFill>
                  <a:srgbClr val="B23A3A"/>
                </a:solidFill>
                <a:latin typeface="Calibri"/>
                <a:ea typeface="Calibri"/>
                <a:cs typeface="Calibri"/>
                <a:sym typeface="Calibri"/>
              </a:rPr>
              <a:t>Severe loss</a:t>
            </a:r>
            <a:endParaRPr b="0" i="0" sz="1100" u="none" cap="none" strike="noStrike">
              <a:solidFill>
                <a:schemeClr val="dk1"/>
              </a:solidFill>
              <a:latin typeface="Calibri"/>
              <a:ea typeface="Calibri"/>
              <a:cs typeface="Calibri"/>
              <a:sym typeface="Calibri"/>
            </a:endParaRPr>
          </a:p>
          <a:p>
            <a:pPr indent="0" lvl="0" marL="0" marR="0" rtl="0" algn="r">
              <a:spcBef>
                <a:spcPts val="0"/>
              </a:spcBef>
              <a:spcAft>
                <a:spcPts val="0"/>
              </a:spcAft>
              <a:buClr>
                <a:srgbClr val="B23A3A"/>
              </a:buClr>
              <a:buSzPts val="1100"/>
              <a:buFont typeface="Calibri"/>
              <a:buNone/>
            </a:pPr>
            <a:r>
              <a:rPr b="0" i="0" lang="en-US" sz="1100" u="none" cap="none" strike="noStrike">
                <a:solidFill>
                  <a:srgbClr val="B23A3A"/>
                </a:solidFill>
                <a:latin typeface="Calibri"/>
                <a:ea typeface="Calibri"/>
                <a:cs typeface="Calibri"/>
                <a:sym typeface="Calibri"/>
              </a:rPr>
              <a:t>0.371%</a:t>
            </a:r>
            <a:endParaRPr b="0" i="0" sz="1100" u="none" cap="none" strike="noStrike">
              <a:solidFill>
                <a:schemeClr val="dk1"/>
              </a:solidFill>
              <a:latin typeface="Calibri"/>
              <a:ea typeface="Calibri"/>
              <a:cs typeface="Calibri"/>
              <a:sym typeface="Calibri"/>
            </a:endParaRPr>
          </a:p>
        </p:txBody>
      </p:sp>
      <p:sp>
        <p:nvSpPr>
          <p:cNvPr id="266" name="Google Shape;266;p16"/>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7"/>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lang="en-US">
                <a:solidFill>
                  <a:srgbClr val="14374A"/>
                </a:solidFill>
              </a:rPr>
              <a:t>The deal sits on its trigger, so losses keep cutting off M-note principal</a:t>
            </a:r>
            <a:r>
              <a:rPr b="0" lang="en-US" sz="1100">
                <a:solidFill>
                  <a:srgbClr val="000000"/>
                </a:solidFill>
                <a:latin typeface="Arial"/>
                <a:ea typeface="Arial"/>
                <a:cs typeface="Arial"/>
                <a:sym typeface="Arial"/>
              </a:rPr>
              <a:t> </a:t>
            </a:r>
            <a:endParaRPr sz="2400"/>
          </a:p>
        </p:txBody>
      </p:sp>
      <p:sp>
        <p:nvSpPr>
          <p:cNvPr id="273" name="Google Shape;273;p17"/>
          <p:cNvSpPr/>
          <p:nvPr/>
        </p:nvSpPr>
        <p:spPr>
          <a:xfrm>
            <a:off x="7132325" y="1227396"/>
            <a:ext cx="4480500" cy="3437100"/>
          </a:xfrm>
          <a:prstGeom prst="roundRect">
            <a:avLst>
              <a:gd fmla="val 2909"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7"/>
          <p:cNvSpPr txBox="1"/>
          <p:nvPr/>
        </p:nvSpPr>
        <p:spPr>
          <a:xfrm>
            <a:off x="7360920" y="1404320"/>
            <a:ext cx="4023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What happens</a:t>
            </a:r>
            <a:endParaRPr b="0" i="0" sz="1600" u="none" cap="none" strike="noStrike">
              <a:solidFill>
                <a:schemeClr val="dk1"/>
              </a:solidFill>
              <a:latin typeface="Calibri"/>
              <a:ea typeface="Calibri"/>
              <a:cs typeface="Calibri"/>
              <a:sym typeface="Calibri"/>
            </a:endParaRPr>
          </a:p>
        </p:txBody>
      </p:sp>
      <p:sp>
        <p:nvSpPr>
          <p:cNvPr id="275" name="Google Shape;275;p17"/>
          <p:cNvSpPr txBox="1"/>
          <p:nvPr/>
        </p:nvSpPr>
        <p:spPr>
          <a:xfrm>
            <a:off x="7360925" y="1834088"/>
            <a:ext cx="4023300" cy="26535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200"/>
              <a:buFont typeface="Calibri"/>
              <a:buChar char="•"/>
            </a:pPr>
            <a:r>
              <a:rPr b="1" lang="en-US" sz="1200">
                <a:solidFill>
                  <a:srgbClr val="1B2A34"/>
                </a:solidFill>
                <a:latin typeface="Calibri"/>
                <a:ea typeface="Calibri"/>
                <a:cs typeface="Calibri"/>
                <a:sym typeface="Calibri"/>
              </a:rPr>
              <a:t>No cushion: </a:t>
            </a:r>
            <a:r>
              <a:rPr lang="en-US" sz="1200">
                <a:solidFill>
                  <a:srgbClr val="1B2A34"/>
                </a:solidFill>
                <a:latin typeface="Calibri"/>
                <a:ea typeface="Calibri"/>
                <a:cs typeface="Calibri"/>
                <a:sym typeface="Calibri"/>
              </a:rPr>
              <a:t>the test needs a Subordinate Percentage of at least 3.525%, and the deal starts exactly there.</a:t>
            </a:r>
            <a:endParaRPr sz="1200">
              <a:solidFill>
                <a:srgbClr val="1B2A34"/>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US" sz="1200">
                <a:solidFill>
                  <a:srgbClr val="1B2A34"/>
                </a:solidFill>
                <a:latin typeface="Calibri"/>
                <a:ea typeface="Calibri"/>
                <a:cs typeface="Calibri"/>
                <a:sym typeface="Calibri"/>
              </a:rPr>
              <a:t>Pro rata holds it flat: </a:t>
            </a:r>
            <a:r>
              <a:rPr lang="en-US" sz="1200">
                <a:solidFill>
                  <a:srgbClr val="1B2A34"/>
                </a:solidFill>
                <a:latin typeface="Calibri"/>
                <a:ea typeface="Calibri"/>
                <a:cs typeface="Calibri"/>
                <a:sym typeface="Calibri"/>
              </a:rPr>
              <a:t>while the test passes, the M notes get their pro-rata share of principal, so the share does not move.</a:t>
            </a:r>
            <a:endParaRPr sz="1200">
              <a:solidFill>
                <a:srgbClr val="1B2A34"/>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US" sz="1200">
                <a:solidFill>
                  <a:srgbClr val="1B2A34"/>
                </a:solidFill>
                <a:latin typeface="Calibri"/>
                <a:ea typeface="Calibri"/>
                <a:cs typeface="Calibri"/>
                <a:sym typeface="Calibri"/>
              </a:rPr>
              <a:t>Losses push it down: </a:t>
            </a:r>
            <a:r>
              <a:rPr lang="en-US" sz="1200">
                <a:solidFill>
                  <a:srgbClr val="1B2A34"/>
                </a:solidFill>
                <a:latin typeface="Calibri"/>
                <a:ea typeface="Calibri"/>
                <a:cs typeface="Calibri"/>
                <a:sym typeface="Calibri"/>
              </a:rPr>
              <a:t>each loss, even one Freddie Mac absorbs in B-3H, lowers the share. Once it dips below 3.525%, all principal goes senior until it climbs back.</a:t>
            </a:r>
            <a:endParaRPr sz="1200">
              <a:solidFill>
                <a:srgbClr val="1B2A34"/>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US" sz="1200">
                <a:solidFill>
                  <a:srgbClr val="1B2A34"/>
                </a:solidFill>
                <a:latin typeface="Calibri"/>
                <a:ea typeface="Calibri"/>
                <a:cs typeface="Calibri"/>
                <a:sym typeface="Calibri"/>
              </a:rPr>
              <a:t>Month 9 is the biggest: </a:t>
            </a:r>
            <a:r>
              <a:rPr lang="en-US" sz="1200">
                <a:solidFill>
                  <a:srgbClr val="1B2A34"/>
                </a:solidFill>
                <a:latin typeface="Calibri"/>
                <a:ea typeface="Calibri"/>
                <a:cs typeface="Calibri"/>
                <a:sym typeface="Calibri"/>
              </a:rPr>
              <a:t>the tape's delinquent loans liquidate together: a $23.31mm loss and a three-month lockout. One-date liquidation overstates it.</a:t>
            </a:r>
            <a:endParaRPr sz="1200">
              <a:solidFill>
                <a:srgbClr val="1B2A34"/>
              </a:solidFill>
              <a:latin typeface="Calibri"/>
              <a:ea typeface="Calibri"/>
              <a:cs typeface="Calibri"/>
              <a:sym typeface="Calibri"/>
            </a:endParaRPr>
          </a:p>
          <a:p>
            <a:pPr indent="0" lvl="0" marL="0" marR="0" rtl="0" algn="l">
              <a:spcBef>
                <a:spcPts val="600"/>
              </a:spcBef>
              <a:spcAft>
                <a:spcPts val="0"/>
              </a:spcAft>
              <a:buNone/>
            </a:pPr>
            <a:r>
              <a:t/>
            </a:r>
            <a:endParaRPr sz="1200">
              <a:solidFill>
                <a:schemeClr val="dk1"/>
              </a:solidFill>
              <a:latin typeface="Calibri"/>
              <a:ea typeface="Calibri"/>
              <a:cs typeface="Calibri"/>
              <a:sym typeface="Calibri"/>
            </a:endParaRPr>
          </a:p>
        </p:txBody>
      </p:sp>
      <p:sp>
        <p:nvSpPr>
          <p:cNvPr id="276" name="Google Shape;276;p17"/>
          <p:cNvSpPr txBox="1"/>
          <p:nvPr/>
        </p:nvSpPr>
        <p:spPr>
          <a:xfrm>
            <a:off x="7132295" y="4977510"/>
            <a:ext cx="4480500" cy="502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US" sz="1000">
                <a:solidFill>
                  <a:srgbClr val="5A6B78"/>
                </a:solidFill>
                <a:latin typeface="Calibri"/>
                <a:ea typeface="Calibri"/>
                <a:cs typeface="Calibri"/>
                <a:sym typeface="Calibri"/>
              </a:rPr>
              <a:t>The cumulative-loss and delinquency tests pass in every month; only minimum CE fails. Months counted to the assumed Feb 2031 call. Chart: base scenario.</a:t>
            </a:r>
            <a:endParaRPr sz="1000">
              <a:solidFill>
                <a:srgbClr val="5A6B78"/>
              </a:solidFill>
              <a:latin typeface="Calibri"/>
              <a:ea typeface="Calibri"/>
              <a:cs typeface="Calibri"/>
              <a:sym typeface="Calibri"/>
            </a:endParaRPr>
          </a:p>
          <a:p>
            <a:pPr indent="0" lvl="0" marL="0" marR="0" rtl="0" algn="l">
              <a:spcBef>
                <a:spcPts val="0"/>
              </a:spcBef>
              <a:spcAft>
                <a:spcPts val="0"/>
              </a:spcAft>
              <a:buClr>
                <a:srgbClr val="5A6B78"/>
              </a:buClr>
              <a:buSzPts val="1000"/>
              <a:buFont typeface="Calibri"/>
              <a:buNone/>
            </a:pPr>
            <a:r>
              <a:t/>
            </a:r>
            <a:endParaRPr sz="1000">
              <a:solidFill>
                <a:srgbClr val="5A6B78"/>
              </a:solidFill>
              <a:latin typeface="Calibri"/>
              <a:ea typeface="Calibri"/>
              <a:cs typeface="Calibri"/>
              <a:sym typeface="Calibri"/>
            </a:endParaRPr>
          </a:p>
        </p:txBody>
      </p:sp>
      <p:sp>
        <p:nvSpPr>
          <p:cNvPr id="277" name="Google Shape;277;p17"/>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pic>
        <p:nvPicPr>
          <p:cNvPr id="278" name="Google Shape;278;p17"/>
          <p:cNvPicPr preferRelativeResize="0"/>
          <p:nvPr/>
        </p:nvPicPr>
        <p:blipFill>
          <a:blip r:embed="rId3">
            <a:alphaModFix/>
          </a:blip>
          <a:stretch>
            <a:fillRect/>
          </a:stretch>
        </p:blipFill>
        <p:spPr>
          <a:xfrm>
            <a:off x="548650" y="1227400"/>
            <a:ext cx="6192125" cy="2835525"/>
          </a:xfrm>
          <a:prstGeom prst="rect">
            <a:avLst/>
          </a:prstGeom>
          <a:noFill/>
          <a:ln>
            <a:noFill/>
          </a:ln>
        </p:spPr>
      </p:pic>
      <p:graphicFrame>
        <p:nvGraphicFramePr>
          <p:cNvPr id="279" name="Google Shape;279;p17"/>
          <p:cNvGraphicFramePr/>
          <p:nvPr/>
        </p:nvGraphicFramePr>
        <p:xfrm>
          <a:off x="548625" y="4278675"/>
          <a:ext cx="3000000" cy="3000000"/>
        </p:xfrm>
        <a:graphic>
          <a:graphicData uri="http://schemas.openxmlformats.org/drawingml/2006/table">
            <a:tbl>
              <a:tblPr>
                <a:noFill/>
                <a:tableStyleId>{25C77E93-19F6-4675-AD0D-53BB172675F8}</a:tableStyleId>
              </a:tblPr>
              <a:tblGrid>
                <a:gridCol w="1480125"/>
                <a:gridCol w="2229550"/>
                <a:gridCol w="2482475"/>
              </a:tblGrid>
              <a:tr h="333375">
                <a:tc>
                  <a:txBody>
                    <a:bodyPr/>
                    <a:lstStyle/>
                    <a:p>
                      <a:pPr indent="0" lvl="0" marL="0" rtl="0" algn="ctr">
                        <a:lnSpc>
                          <a:spcPct val="115000"/>
                        </a:lnSpc>
                        <a:spcBef>
                          <a:spcPts val="0"/>
                        </a:spcBef>
                        <a:spcAft>
                          <a:spcPts val="0"/>
                        </a:spcAft>
                        <a:buNone/>
                      </a:pPr>
                      <a:r>
                        <a:rPr b="1" lang="en-US" sz="1200">
                          <a:solidFill>
                            <a:schemeClr val="lt1"/>
                          </a:solidFill>
                          <a:latin typeface="Calibri"/>
                          <a:ea typeface="Calibri"/>
                          <a:cs typeface="Calibri"/>
                          <a:sym typeface="Calibri"/>
                        </a:rPr>
                        <a:t>Scenario</a:t>
                      </a:r>
                      <a:endParaRPr b="1" sz="1200">
                        <a:solidFill>
                          <a:schemeClr val="lt1"/>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US" sz="1200">
                          <a:solidFill>
                            <a:schemeClr val="lt1"/>
                          </a:solidFill>
                          <a:latin typeface="Calibri"/>
                          <a:ea typeface="Calibri"/>
                          <a:cs typeface="Calibri"/>
                          <a:sym typeface="Calibri"/>
                        </a:rPr>
                        <a:t>Months failing (of 53)</a:t>
                      </a:r>
                      <a:endParaRPr b="1" sz="1200">
                        <a:solidFill>
                          <a:schemeClr val="lt1"/>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US" sz="1200">
                          <a:solidFill>
                            <a:schemeClr val="lt1"/>
                          </a:solidFill>
                          <a:latin typeface="Calibri"/>
                          <a:ea typeface="Calibri"/>
                          <a:cs typeface="Calibri"/>
                          <a:sym typeface="Calibri"/>
                        </a:rPr>
                        <a:t>Initial lockout</a:t>
                      </a:r>
                      <a:endParaRPr b="1" sz="1200">
                        <a:solidFill>
                          <a:schemeClr val="lt1"/>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chemeClr val="dk1"/>
                    </a:solidFill>
                  </a:tcPr>
                </a:tc>
              </a:tr>
              <a:tr h="333375">
                <a:tc>
                  <a:txBody>
                    <a:bodyPr/>
                    <a:lstStyle/>
                    <a:p>
                      <a:pPr indent="0" lvl="0" marL="0" rtl="0" algn="l">
                        <a:lnSpc>
                          <a:spcPct val="115000"/>
                        </a:lnSpc>
                        <a:spcBef>
                          <a:spcPts val="0"/>
                        </a:spcBef>
                        <a:spcAft>
                          <a:spcPts val="0"/>
                        </a:spcAft>
                        <a:buNone/>
                      </a:pPr>
                      <a:r>
                        <a:rPr b="1" lang="en-US" sz="1200">
                          <a:solidFill>
                            <a:srgbClr val="2E8B57"/>
                          </a:solidFill>
                          <a:latin typeface="Calibri"/>
                          <a:ea typeface="Calibri"/>
                          <a:cs typeface="Calibri"/>
                          <a:sym typeface="Calibri"/>
                        </a:rPr>
                        <a:t>Good</a:t>
                      </a:r>
                      <a:endParaRPr b="1" sz="1200">
                        <a:solidFill>
                          <a:srgbClr val="2E8B57"/>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6</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Months 10–12</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n-US" sz="1200">
                          <a:solidFill>
                            <a:srgbClr val="1F6F8B"/>
                          </a:solidFill>
                          <a:latin typeface="Calibri"/>
                          <a:ea typeface="Calibri"/>
                          <a:cs typeface="Calibri"/>
                          <a:sym typeface="Calibri"/>
                        </a:rPr>
                        <a:t>Base</a:t>
                      </a:r>
                      <a:endParaRPr b="1" sz="1200">
                        <a:solidFill>
                          <a:srgbClr val="1F6F8B"/>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6</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Months 10–12</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n-US" sz="1200">
                          <a:solidFill>
                            <a:srgbClr val="D9922E"/>
                          </a:solidFill>
                          <a:latin typeface="Calibri"/>
                          <a:ea typeface="Calibri"/>
                          <a:cs typeface="Calibri"/>
                          <a:sym typeface="Calibri"/>
                        </a:rPr>
                        <a:t>Moderate</a:t>
                      </a:r>
                      <a:endParaRPr b="1" sz="1200">
                        <a:solidFill>
                          <a:srgbClr val="D9922E"/>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11</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Months 10–14</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n-US" sz="1200">
                          <a:solidFill>
                            <a:srgbClr val="B23A3A"/>
                          </a:solidFill>
                          <a:latin typeface="Calibri"/>
                          <a:ea typeface="Calibri"/>
                          <a:cs typeface="Calibri"/>
                          <a:sym typeface="Calibri"/>
                        </a:rPr>
                        <a:t>Severe</a:t>
                      </a:r>
                      <a:endParaRPr b="1" sz="1200">
                        <a:solidFill>
                          <a:srgbClr val="B23A3A"/>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10</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200">
                          <a:solidFill>
                            <a:srgbClr val="1B2A34"/>
                          </a:solidFill>
                          <a:latin typeface="Calibri"/>
                          <a:ea typeface="Calibri"/>
                          <a:cs typeface="Calibri"/>
                          <a:sym typeface="Calibri"/>
                        </a:rPr>
                        <a:t>Months 10–13</a:t>
                      </a:r>
                      <a:endParaRPr sz="12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bl>
          </a:graphicData>
        </a:graphic>
      </p:graphicFrame>
      <p:sp>
        <p:nvSpPr>
          <p:cNvPr id="280" name="Google Shape;280;p17"/>
          <p:cNvSpPr txBox="1"/>
          <p:nvPr/>
        </p:nvSpPr>
        <p:spPr>
          <a:xfrm>
            <a:off x="7132300" y="5455875"/>
            <a:ext cx="4480500" cy="777600"/>
          </a:xfrm>
          <a:prstGeom prst="rect">
            <a:avLst/>
          </a:prstGeom>
          <a:solidFill>
            <a:schemeClr val="dk2"/>
          </a:solid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For investors: </a:t>
            </a:r>
            <a:r>
              <a:rPr lang="en-US" sz="1300">
                <a:solidFill>
                  <a:schemeClr val="lt1"/>
                </a:solidFill>
                <a:latin typeface="Calibri"/>
                <a:ea typeface="Calibri"/>
                <a:cs typeface="Calibri"/>
                <a:sym typeface="Calibri"/>
              </a:rPr>
              <a:t>M-note principal can stop for months at a time even when Freddie Mac absorbs the loss, so credit events show up as timing risk.</a:t>
            </a:r>
            <a:endParaRPr sz="1300">
              <a:solidFill>
                <a:schemeClr val="lt1"/>
              </a:solidFill>
              <a:latin typeface="Calibri"/>
              <a:ea typeface="Calibri"/>
              <a:cs typeface="Calibri"/>
              <a:sym typeface="Calibri"/>
            </a:endParaRPr>
          </a:p>
          <a:p>
            <a:pPr indent="0" lvl="0" marL="0" rtl="0" algn="l">
              <a:spcBef>
                <a:spcPts val="0"/>
              </a:spcBef>
              <a:spcAft>
                <a:spcPts val="0"/>
              </a:spcAft>
              <a:buNone/>
            </a:pPr>
            <a:r>
              <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lang="en-US">
                <a:solidFill>
                  <a:srgbClr val="14374A"/>
                </a:solidFill>
              </a:rPr>
              <a:t>No write-downs; the risk is extension in the moderate case</a:t>
            </a:r>
            <a:endParaRPr sz="2400"/>
          </a:p>
        </p:txBody>
      </p:sp>
      <p:graphicFrame>
        <p:nvGraphicFramePr>
          <p:cNvPr id="287" name="Google Shape;287;p18"/>
          <p:cNvGraphicFramePr/>
          <p:nvPr/>
        </p:nvGraphicFramePr>
        <p:xfrm>
          <a:off x="6217883" y="1428388"/>
          <a:ext cx="3000000" cy="3000000"/>
        </p:xfrm>
        <a:graphic>
          <a:graphicData uri="http://schemas.openxmlformats.org/drawingml/2006/table">
            <a:tbl>
              <a:tblPr>
                <a:noFill/>
                <a:tableStyleId>{25C77E93-19F6-4675-AD0D-53BB172675F8}</a:tableStyleId>
              </a:tblPr>
              <a:tblGrid>
                <a:gridCol w="914400"/>
                <a:gridCol w="777250"/>
                <a:gridCol w="777250"/>
                <a:gridCol w="1097275"/>
                <a:gridCol w="868675"/>
                <a:gridCol w="960125"/>
              </a:tblGrid>
              <a:tr h="384050">
                <a:tc>
                  <a:txBody>
                    <a:bodyPr/>
                    <a:lstStyle/>
                    <a:p>
                      <a:pPr indent="0" lvl="0" marL="0" marR="0" rtl="0" algn="ctr">
                        <a:spcBef>
                          <a:spcPts val="0"/>
                        </a:spcBef>
                        <a:spcAft>
                          <a:spcPts val="0"/>
                        </a:spcAft>
                        <a:buClr>
                          <a:srgbClr val="FFFFFF"/>
                        </a:buClr>
                        <a:buSzPts val="1300"/>
                        <a:buFont typeface="Calibri"/>
                        <a:buNone/>
                      </a:pPr>
                      <a:r>
                        <a:rPr b="1" lang="en-US" sz="1100" u="none" cap="none" strike="noStrike">
                          <a:solidFill>
                            <a:srgbClr val="FFFFFF"/>
                          </a:solidFill>
                        </a:rPr>
                        <a:t>WAL, yrs</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300"/>
                        <a:buFont typeface="Calibri"/>
                        <a:buNone/>
                      </a:pPr>
                      <a:r>
                        <a:rPr b="1" lang="en-US" sz="1100" u="none" cap="none" strike="noStrike">
                          <a:solidFill>
                            <a:srgbClr val="FFFFFF"/>
                          </a:solidFill>
                        </a:rPr>
                        <a:t>Good</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2E8B57"/>
                    </a:solidFill>
                  </a:tcPr>
                </a:tc>
                <a:tc>
                  <a:txBody>
                    <a:bodyPr/>
                    <a:lstStyle/>
                    <a:p>
                      <a:pPr indent="0" lvl="0" marL="0" marR="0" rtl="0" algn="ctr">
                        <a:spcBef>
                          <a:spcPts val="0"/>
                        </a:spcBef>
                        <a:spcAft>
                          <a:spcPts val="0"/>
                        </a:spcAft>
                        <a:buClr>
                          <a:srgbClr val="FFFFFF"/>
                        </a:buClr>
                        <a:buSzPts val="1300"/>
                        <a:buFont typeface="Calibri"/>
                        <a:buNone/>
                      </a:pPr>
                      <a:r>
                        <a:rPr b="1" lang="en-US" sz="1100" u="none" cap="none" strike="noStrike">
                          <a:solidFill>
                            <a:srgbClr val="FFFFFF"/>
                          </a:solidFill>
                        </a:rPr>
                        <a:t>Base</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F6F8B"/>
                    </a:solidFill>
                  </a:tcPr>
                </a:tc>
                <a:tc>
                  <a:txBody>
                    <a:bodyPr/>
                    <a:lstStyle/>
                    <a:p>
                      <a:pPr indent="0" lvl="0" marL="0" marR="0" rtl="0" algn="ctr">
                        <a:spcBef>
                          <a:spcPts val="0"/>
                        </a:spcBef>
                        <a:spcAft>
                          <a:spcPts val="0"/>
                        </a:spcAft>
                        <a:buClr>
                          <a:srgbClr val="FFFFFF"/>
                        </a:buClr>
                        <a:buSzPts val="1300"/>
                        <a:buFont typeface="Calibri"/>
                        <a:buNone/>
                      </a:pPr>
                      <a:r>
                        <a:rPr b="1" lang="en-US" sz="1100" u="none" cap="none" strike="noStrike">
                          <a:solidFill>
                            <a:srgbClr val="FFFFFF"/>
                          </a:solidFill>
                        </a:rPr>
                        <a:t>Moderate</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D9922E"/>
                    </a:solidFill>
                  </a:tcPr>
                </a:tc>
                <a:tc>
                  <a:txBody>
                    <a:bodyPr/>
                    <a:lstStyle/>
                    <a:p>
                      <a:pPr indent="0" lvl="0" marL="0" marR="0" rtl="0" algn="ctr">
                        <a:spcBef>
                          <a:spcPts val="0"/>
                        </a:spcBef>
                        <a:spcAft>
                          <a:spcPts val="0"/>
                        </a:spcAft>
                        <a:buClr>
                          <a:srgbClr val="FFFFFF"/>
                        </a:buClr>
                        <a:buSzPts val="1300"/>
                        <a:buFont typeface="Calibri"/>
                        <a:buNone/>
                      </a:pPr>
                      <a:r>
                        <a:rPr b="1" lang="en-US" sz="1100" u="none" cap="none" strike="noStrike">
                          <a:solidFill>
                            <a:srgbClr val="FFFFFF"/>
                          </a:solidFill>
                        </a:rPr>
                        <a:t>Severe</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B23A3A"/>
                    </a:solidFill>
                  </a:tcPr>
                </a:tc>
                <a:tc>
                  <a:txBody>
                    <a:bodyPr/>
                    <a:lstStyle/>
                    <a:p>
                      <a:pPr indent="0" lvl="0" marL="0" marR="0" rtl="0" algn="ctr">
                        <a:spcBef>
                          <a:spcPts val="0"/>
                        </a:spcBef>
                        <a:spcAft>
                          <a:spcPts val="0"/>
                        </a:spcAft>
                        <a:buClr>
                          <a:srgbClr val="FFFFFF"/>
                        </a:buClr>
                        <a:buSzPts val="1300"/>
                        <a:buFont typeface="Calibri"/>
                        <a:buNone/>
                      </a:pPr>
                      <a:r>
                        <a:rPr b="1" lang="en-US" sz="1100" u="none" cap="none" strike="noStrike">
                          <a:solidFill>
                            <a:srgbClr val="FFFFFF"/>
                          </a:solidFill>
                        </a:rPr>
                        <a:t>PPM</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384050">
                <a:tc>
                  <a:txBody>
                    <a:bodyPr/>
                    <a:lstStyle/>
                    <a:p>
                      <a:pPr indent="0" lvl="0" marL="0" marR="0" rtl="0" algn="l">
                        <a:spcBef>
                          <a:spcPts val="0"/>
                        </a:spcBef>
                        <a:spcAft>
                          <a:spcPts val="0"/>
                        </a:spcAft>
                        <a:buClr>
                          <a:srgbClr val="1B2A34"/>
                        </a:buClr>
                        <a:buSzPts val="1300"/>
                        <a:buFont typeface="Calibri"/>
                        <a:buNone/>
                      </a:pPr>
                      <a:r>
                        <a:rPr b="1" lang="en-US" sz="1100" u="none" cap="none" strike="noStrike">
                          <a:solidFill>
                            <a:srgbClr val="1B2A34"/>
                          </a:solidFill>
                        </a:rPr>
                        <a:t>A-1</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1.40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1.40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1.40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1.40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1.59</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2A34"/>
                        </a:buClr>
                        <a:buSzPts val="1300"/>
                        <a:buFont typeface="Calibri"/>
                        <a:buNone/>
                      </a:pPr>
                      <a:r>
                        <a:rPr b="1" lang="en-US" sz="1100" u="none" cap="none" strike="noStrike">
                          <a:solidFill>
                            <a:srgbClr val="1B2A34"/>
                          </a:solidFill>
                        </a:rPr>
                        <a:t>M-1</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1.16</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1.20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100" u="none" cap="none" strike="noStrike">
                          <a:solidFill>
                            <a:srgbClr val="1B2A34"/>
                          </a:solidFill>
                        </a:rPr>
                        <a:t>1.87</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1.54</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1.75</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2A34"/>
                        </a:buClr>
                        <a:buSzPts val="1300"/>
                        <a:buFont typeface="Calibri"/>
                        <a:buNone/>
                      </a:pPr>
                      <a:r>
                        <a:rPr b="1" lang="en-US" sz="1100" u="none" cap="none" strike="noStrike">
                          <a:solidFill>
                            <a:srgbClr val="1B2A34"/>
                          </a:solidFill>
                        </a:rPr>
                        <a:t>M-2A</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2.28</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2.43</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b="1" lang="en-US" sz="1100" u="none" cap="none" strike="noStrike">
                          <a:solidFill>
                            <a:srgbClr val="1B2A34"/>
                          </a:solidFill>
                        </a:rPr>
                        <a:t>3.47</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2.74</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4.11</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chemeClr val="dk1"/>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2A34"/>
                        </a:buClr>
                        <a:buSzPts val="1300"/>
                        <a:buFont typeface="Calibri"/>
                        <a:buNone/>
                      </a:pPr>
                      <a:r>
                        <a:rPr b="1" lang="en-US" sz="1100" u="none" cap="none" strike="noStrike">
                          <a:solidFill>
                            <a:srgbClr val="1B2A34"/>
                          </a:solidFill>
                        </a:rPr>
                        <a:t>M-2B</a:t>
                      </a:r>
                      <a:endParaRPr sz="1100" u="none" cap="none" strike="noStrike"/>
                    </a:p>
                  </a:txBody>
                  <a:tcPr marT="45725" marB="45725" marR="45725" marL="457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EF3F5"/>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2.70</a:t>
                      </a:r>
                      <a:endParaRPr sz="1100" u="none" cap="none" strike="noStrike"/>
                    </a:p>
                  </a:txBody>
                  <a:tcPr marT="45725" marB="45725" marR="45725" marL="457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EF3F5"/>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2.82</a:t>
                      </a:r>
                      <a:endParaRPr sz="1100" u="none" cap="none" strike="noStrike"/>
                    </a:p>
                  </a:txBody>
                  <a:tcPr marT="45725" marB="45725" marR="45725" marL="457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EF3F5"/>
                    </a:solidFill>
                  </a:tcPr>
                </a:tc>
                <a:tc>
                  <a:txBody>
                    <a:bodyPr/>
                    <a:lstStyle/>
                    <a:p>
                      <a:pPr indent="0" lvl="0" marL="0" marR="0" rtl="0" algn="ctr">
                        <a:spcBef>
                          <a:spcPts val="0"/>
                        </a:spcBef>
                        <a:spcAft>
                          <a:spcPts val="0"/>
                        </a:spcAft>
                        <a:buClr>
                          <a:srgbClr val="1B2A34"/>
                        </a:buClr>
                        <a:buSzPts val="1300"/>
                        <a:buFont typeface="Calibri"/>
                        <a:buNone/>
                      </a:pPr>
                      <a:r>
                        <a:rPr b="1" lang="en-US" sz="1100" u="none" cap="none" strike="noStrike">
                          <a:solidFill>
                            <a:srgbClr val="1B2A34"/>
                          </a:solidFill>
                        </a:rPr>
                        <a:t>3.84</a:t>
                      </a:r>
                      <a:endParaRPr sz="1100" u="none" cap="none" strike="noStrike"/>
                    </a:p>
                  </a:txBody>
                  <a:tcPr marT="45725" marB="45725" marR="45725" marL="457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EF3F5"/>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3.16</a:t>
                      </a:r>
                      <a:endParaRPr sz="1100" u="none" cap="none" strike="noStrike"/>
                    </a:p>
                  </a:txBody>
                  <a:tcPr marT="45725" marB="45725" marR="45725" marL="457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EF3F5"/>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4.79</a:t>
                      </a:r>
                      <a:endParaRPr sz="1100" u="none" cap="none" strike="noStrike"/>
                    </a:p>
                  </a:txBody>
                  <a:tcPr marT="45725" marB="45725" marR="45725" marL="457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EF3F5"/>
                    </a:solidFill>
                  </a:tcPr>
                </a:tc>
              </a:tr>
              <a:tr h="384050">
                <a:tc>
                  <a:txBody>
                    <a:bodyPr/>
                    <a:lstStyle/>
                    <a:p>
                      <a:pPr indent="0" lvl="0" marL="0" marR="0" rtl="0" algn="l">
                        <a:spcBef>
                          <a:spcPts val="0"/>
                        </a:spcBef>
                        <a:spcAft>
                          <a:spcPts val="0"/>
                        </a:spcAft>
                        <a:buClr>
                          <a:srgbClr val="1B2A34"/>
                        </a:buClr>
                        <a:buSzPts val="1300"/>
                        <a:buFont typeface="Calibri"/>
                        <a:buNone/>
                      </a:pPr>
                      <a:r>
                        <a:rPr b="1" lang="en-US" sz="1100" u="none" cap="none" strike="noStrike">
                          <a:solidFill>
                            <a:srgbClr val="1B2A34"/>
                          </a:solidFill>
                        </a:rPr>
                        <a:t>Write-down</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300"/>
                        <a:buFont typeface="Calibri"/>
                        <a:buNone/>
                      </a:pPr>
                      <a:r>
                        <a:rPr lang="en-US" sz="1100" u="none" cap="none" strike="noStrike">
                          <a:solidFill>
                            <a:srgbClr val="1B2A34"/>
                          </a:solidFill>
                        </a:rPr>
                        <a:t>0</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300"/>
                        <a:buFont typeface="Calibri"/>
                        <a:buNone/>
                      </a:pPr>
                      <a:r>
                        <a:t/>
                      </a:r>
                      <a:endParaRPr sz="11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288" name="Google Shape;288;p18"/>
          <p:cNvSpPr txBox="1"/>
          <p:nvPr/>
        </p:nvSpPr>
        <p:spPr>
          <a:xfrm>
            <a:off x="6245400" y="4548425"/>
            <a:ext cx="5394900" cy="150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300"/>
              <a:t>•</a:t>
            </a:r>
            <a:r>
              <a:rPr b="1" lang="en-US" sz="1300">
                <a:solidFill>
                  <a:srgbClr val="1B2A34"/>
                </a:solidFill>
                <a:latin typeface="Calibri"/>
                <a:ea typeface="Calibri"/>
                <a:cs typeface="Calibri"/>
                <a:sym typeface="Calibri"/>
              </a:rPr>
              <a:t>A-1 is locked in: </a:t>
            </a:r>
            <a:r>
              <a:rPr lang="en-US" sz="1300">
                <a:solidFill>
                  <a:srgbClr val="1B2A34"/>
                </a:solidFill>
                <a:latin typeface="Calibri"/>
                <a:ea typeface="Calibri"/>
                <a:cs typeface="Calibri"/>
                <a:sym typeface="Calibri"/>
              </a:rPr>
              <a:t>it takes only its fixed schedule until payment 37 (month 30), when it is retired: 1.40 years in every scenario.</a:t>
            </a:r>
            <a:endParaRPr sz="1300">
              <a:solidFill>
                <a:srgbClr val="1B2A34"/>
              </a:solidFill>
              <a:latin typeface="Calibri"/>
              <a:ea typeface="Calibri"/>
              <a:cs typeface="Calibri"/>
              <a:sym typeface="Calibri"/>
            </a:endParaRPr>
          </a:p>
          <a:p>
            <a:pPr indent="0" lvl="0" marL="0" rtl="0" algn="l">
              <a:lnSpc>
                <a:spcPct val="115000"/>
              </a:lnSpc>
              <a:spcBef>
                <a:spcPts val="500"/>
              </a:spcBef>
              <a:spcAft>
                <a:spcPts val="0"/>
              </a:spcAft>
              <a:buNone/>
            </a:pPr>
            <a:r>
              <a:rPr lang="en-US" sz="1300"/>
              <a:t>•</a:t>
            </a:r>
            <a:r>
              <a:rPr b="1" lang="en-US" sz="1300">
                <a:solidFill>
                  <a:srgbClr val="1B2A34"/>
                </a:solidFill>
                <a:latin typeface="Calibri"/>
                <a:ea typeface="Calibri"/>
                <a:cs typeface="Calibri"/>
                <a:sym typeface="Calibri"/>
              </a:rPr>
              <a:t>M notes extend about a year in moderate, </a:t>
            </a:r>
            <a:r>
              <a:rPr lang="en-US" sz="1300">
                <a:solidFill>
                  <a:srgbClr val="1B2A34"/>
                </a:solidFill>
                <a:latin typeface="Calibri"/>
                <a:ea typeface="Calibri"/>
                <a:cs typeface="Calibri"/>
                <a:sym typeface="Calibri"/>
              </a:rPr>
              <a:t>where rates stay above the pool's 6.76% coupon for three years. M-2B's last payment moves from month 35 (good) to 49.</a:t>
            </a:r>
            <a:endParaRPr sz="1300">
              <a:solidFill>
                <a:srgbClr val="1B2A34"/>
              </a:solidFill>
              <a:latin typeface="Calibri"/>
              <a:ea typeface="Calibri"/>
              <a:cs typeface="Calibri"/>
              <a:sym typeface="Calibri"/>
            </a:endParaRPr>
          </a:p>
          <a:p>
            <a:pPr indent="0" lvl="0" marL="0" rtl="0" algn="l">
              <a:lnSpc>
                <a:spcPct val="115000"/>
              </a:lnSpc>
              <a:spcBef>
                <a:spcPts val="500"/>
              </a:spcBef>
              <a:spcAft>
                <a:spcPts val="0"/>
              </a:spcAft>
              <a:buNone/>
            </a:pPr>
            <a:r>
              <a:rPr lang="en-US" sz="1300"/>
              <a:t>•</a:t>
            </a:r>
            <a:r>
              <a:rPr b="1" lang="en-US" sz="1300">
                <a:solidFill>
                  <a:srgbClr val="1B2A34"/>
                </a:solidFill>
                <a:latin typeface="Calibri"/>
                <a:ea typeface="Calibri"/>
                <a:cs typeface="Calibri"/>
                <a:sym typeface="Calibri"/>
              </a:rPr>
              <a:t>Severe extends less </a:t>
            </a:r>
            <a:r>
              <a:rPr lang="en-US" sz="1300">
                <a:solidFill>
                  <a:srgbClr val="1B2A34"/>
                </a:solidFill>
                <a:latin typeface="Calibri"/>
                <a:ea typeface="Calibri"/>
                <a:cs typeface="Calibri"/>
                <a:sym typeface="Calibri"/>
              </a:rPr>
              <a:t>because rates fall and refinancing picks up.</a:t>
            </a:r>
            <a:endParaRPr sz="1300">
              <a:solidFill>
                <a:srgbClr val="1B2A34"/>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t/>
            </a:r>
            <a:endParaRPr b="1" sz="1300">
              <a:solidFill>
                <a:schemeClr val="dk1"/>
              </a:solidFill>
              <a:latin typeface="Calibri"/>
              <a:ea typeface="Calibri"/>
              <a:cs typeface="Calibri"/>
              <a:sym typeface="Calibri"/>
            </a:endParaRPr>
          </a:p>
        </p:txBody>
      </p:sp>
      <p:sp>
        <p:nvSpPr>
          <p:cNvPr id="289" name="Google Shape;289;p18"/>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pic>
        <p:nvPicPr>
          <p:cNvPr id="290" name="Google Shape;290;p18"/>
          <p:cNvPicPr preferRelativeResize="0"/>
          <p:nvPr/>
        </p:nvPicPr>
        <p:blipFill>
          <a:blip r:embed="rId3">
            <a:alphaModFix/>
          </a:blip>
          <a:stretch>
            <a:fillRect/>
          </a:stretch>
        </p:blipFill>
        <p:spPr>
          <a:xfrm>
            <a:off x="548650" y="1353300"/>
            <a:ext cx="5528075" cy="4500500"/>
          </a:xfrm>
          <a:prstGeom prst="rect">
            <a:avLst/>
          </a:prstGeom>
          <a:noFill/>
          <a:ln>
            <a:noFill/>
          </a:ln>
        </p:spPr>
      </p:pic>
      <p:sp>
        <p:nvSpPr>
          <p:cNvPr id="291" name="Google Shape;291;p18"/>
          <p:cNvSpPr txBox="1"/>
          <p:nvPr/>
        </p:nvSpPr>
        <p:spPr>
          <a:xfrm>
            <a:off x="6217913" y="3835225"/>
            <a:ext cx="53949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000">
                <a:solidFill>
                  <a:srgbClr val="5A6B78"/>
                </a:solidFill>
                <a:latin typeface="Calibri"/>
                <a:ea typeface="Calibri"/>
                <a:cs typeface="Calibri"/>
                <a:sym typeface="Calibri"/>
              </a:rPr>
              <a:t>PPM: expected WAL at issue (Feb 2026), 10% CPR, no losses, called Feb 2031. Ours run from Sep 2026, so they are shorter by construction.</a:t>
            </a:r>
            <a:endParaRPr sz="1000">
              <a:solidFill>
                <a:srgbClr val="5A6B78"/>
              </a:solidFill>
              <a:latin typeface="Calibri"/>
              <a:ea typeface="Calibri"/>
              <a:cs typeface="Calibri"/>
              <a:sym typeface="Calibri"/>
            </a:endParaRPr>
          </a:p>
        </p:txBody>
      </p:sp>
      <p:sp>
        <p:nvSpPr>
          <p:cNvPr id="292" name="Google Shape;292;p18"/>
          <p:cNvSpPr txBox="1"/>
          <p:nvPr/>
        </p:nvSpPr>
        <p:spPr>
          <a:xfrm>
            <a:off x="548650" y="5853800"/>
            <a:ext cx="5394900" cy="615000"/>
          </a:xfrm>
          <a:prstGeom prst="rect">
            <a:avLst/>
          </a:prstGeom>
          <a:solidFill>
            <a:schemeClr val="dk2"/>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For investors: </a:t>
            </a:r>
            <a:r>
              <a:rPr lang="en-US" sz="1300">
                <a:solidFill>
                  <a:schemeClr val="lt1"/>
                </a:solidFill>
                <a:latin typeface="Calibri"/>
                <a:ea typeface="Calibri"/>
                <a:cs typeface="Calibri"/>
                <a:sym typeface="Calibri"/>
              </a:rPr>
              <a:t>A-1 behaves like a 1.4-year cash instrument; an M-2B buyer should plan to hold for up to 4 years.</a:t>
            </a:r>
            <a:endParaRPr sz="13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9"/>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lang="en-US">
                <a:solidFill>
                  <a:srgbClr val="14374A"/>
                </a:solidFill>
              </a:rPr>
              <a:t>Each 100 bp of spread moves a note by about its life in points</a:t>
            </a:r>
            <a:r>
              <a:rPr b="0" lang="en-US" sz="1100">
                <a:solidFill>
                  <a:srgbClr val="000000"/>
                </a:solidFill>
                <a:latin typeface="Arial"/>
                <a:ea typeface="Arial"/>
                <a:cs typeface="Arial"/>
                <a:sym typeface="Arial"/>
              </a:rPr>
              <a:t> </a:t>
            </a:r>
            <a:endParaRPr sz="2400"/>
          </a:p>
        </p:txBody>
      </p:sp>
      <p:sp>
        <p:nvSpPr>
          <p:cNvPr id="299" name="Google Shape;299;p19"/>
          <p:cNvSpPr txBox="1"/>
          <p:nvPr/>
        </p:nvSpPr>
        <p:spPr>
          <a:xfrm>
            <a:off x="548650" y="5989300"/>
            <a:ext cx="6766500" cy="540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US" sz="1000">
                <a:solidFill>
                  <a:srgbClr val="5A6B78"/>
                </a:solidFill>
                <a:latin typeface="Calibri"/>
                <a:ea typeface="Calibri"/>
                <a:cs typeface="Calibri"/>
                <a:sym typeface="Calibri"/>
              </a:rPr>
              <a:t>Full prices per 100 face incl. about 0.10 accrued since Sep 25, 2026; discounted at each scenario's SOFR path plus the DM. Points per 100 bp = (price at DM 0 − price at DM 200) / 2; cost of +50 bp is from the coupon spread.</a:t>
            </a:r>
            <a:endParaRPr sz="1000">
              <a:solidFill>
                <a:srgbClr val="5A6B78"/>
              </a:solidFill>
              <a:latin typeface="Calibri"/>
              <a:ea typeface="Calibri"/>
              <a:cs typeface="Calibri"/>
              <a:sym typeface="Calibri"/>
            </a:endParaRPr>
          </a:p>
          <a:p>
            <a:pPr indent="0" lvl="0" marL="0" marR="0" rtl="0" algn="l">
              <a:spcBef>
                <a:spcPts val="0"/>
              </a:spcBef>
              <a:spcAft>
                <a:spcPts val="0"/>
              </a:spcAft>
              <a:buClr>
                <a:srgbClr val="5A6B78"/>
              </a:buClr>
              <a:buSzPts val="1000"/>
              <a:buFont typeface="Calibri"/>
              <a:buNone/>
            </a:pPr>
            <a:r>
              <a:t/>
            </a:r>
            <a:endParaRPr sz="1000">
              <a:solidFill>
                <a:srgbClr val="5A6B78"/>
              </a:solidFill>
              <a:latin typeface="Calibri"/>
              <a:ea typeface="Calibri"/>
              <a:cs typeface="Calibri"/>
              <a:sym typeface="Calibri"/>
            </a:endParaRPr>
          </a:p>
        </p:txBody>
      </p:sp>
      <p:sp>
        <p:nvSpPr>
          <p:cNvPr id="300" name="Google Shape;300;p19"/>
          <p:cNvSpPr/>
          <p:nvPr/>
        </p:nvSpPr>
        <p:spPr>
          <a:xfrm>
            <a:off x="7589525" y="1554476"/>
            <a:ext cx="4023300" cy="3566100"/>
          </a:xfrm>
          <a:prstGeom prst="roundRect">
            <a:avLst>
              <a:gd fmla="val 1818"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US" sz="1300">
                <a:solidFill>
                  <a:srgbClr val="FFFFFF"/>
                </a:solidFill>
                <a:latin typeface="Calibri"/>
                <a:ea typeface="Calibri"/>
                <a:cs typeface="Calibri"/>
                <a:sym typeface="Calibri"/>
              </a:rPr>
              <a:t>For investors: </a:t>
            </a:r>
            <a:r>
              <a:rPr lang="en-US" sz="1300">
                <a:solidFill>
                  <a:srgbClr val="FFFFFF"/>
                </a:solidFill>
                <a:latin typeface="Calibri"/>
                <a:ea typeface="Calibri"/>
                <a:cs typeface="Calibri"/>
                <a:sym typeface="Calibri"/>
              </a:rPr>
              <a:t>a 50 bp spread widening costs M-2B about 1.3 points in base and 1.7 in moderate; A-1 about 0.7.</a:t>
            </a:r>
            <a:endParaRPr sz="1300">
              <a:solidFill>
                <a:srgbClr val="FFFFFF"/>
              </a:solidFill>
              <a:latin typeface="Calibri"/>
              <a:ea typeface="Calibri"/>
              <a:cs typeface="Calibri"/>
              <a:sym typeface="Calibri"/>
            </a:endParaRPr>
          </a:p>
        </p:txBody>
      </p:sp>
      <p:sp>
        <p:nvSpPr>
          <p:cNvPr id="301" name="Google Shape;301;p19"/>
          <p:cNvSpPr txBox="1"/>
          <p:nvPr/>
        </p:nvSpPr>
        <p:spPr>
          <a:xfrm>
            <a:off x="7818120" y="169164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Reading the prices</a:t>
            </a:r>
            <a:endParaRPr b="0" i="0" sz="1600" u="none" cap="none" strike="noStrike">
              <a:solidFill>
                <a:schemeClr val="dk1"/>
              </a:solidFill>
              <a:latin typeface="Calibri"/>
              <a:ea typeface="Calibri"/>
              <a:cs typeface="Calibri"/>
              <a:sym typeface="Calibri"/>
            </a:endParaRPr>
          </a:p>
        </p:txBody>
      </p:sp>
      <p:sp>
        <p:nvSpPr>
          <p:cNvPr id="302" name="Google Shape;302;p19"/>
          <p:cNvSpPr txBox="1"/>
          <p:nvPr/>
        </p:nvSpPr>
        <p:spPr>
          <a:xfrm>
            <a:off x="7818125" y="2148848"/>
            <a:ext cx="3566100" cy="2971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300"/>
              <a:t>•</a:t>
            </a:r>
            <a:r>
              <a:rPr b="1" lang="en-US" sz="1300">
                <a:solidFill>
                  <a:srgbClr val="1B2A34"/>
                </a:solidFill>
                <a:latin typeface="Calibri"/>
                <a:ea typeface="Calibri"/>
                <a:cs typeface="Calibri"/>
                <a:sym typeface="Calibri"/>
              </a:rPr>
              <a:t>Points ≈ life. </a:t>
            </a:r>
            <a:r>
              <a:rPr lang="en-US" sz="1300">
                <a:solidFill>
                  <a:srgbClr val="1B2A34"/>
                </a:solidFill>
                <a:latin typeface="Calibri"/>
                <a:ea typeface="Calibri"/>
                <a:cs typeface="Calibri"/>
                <a:sym typeface="Calibri"/>
              </a:rPr>
              <a:t>Each 100 bp of DM moves a note's price by roughly its WAL in points, so longer notes swing more.</a:t>
            </a:r>
            <a:endParaRPr sz="1300">
              <a:solidFill>
                <a:srgbClr val="1B2A34"/>
              </a:solidFill>
              <a:latin typeface="Calibri"/>
              <a:ea typeface="Calibri"/>
              <a:cs typeface="Calibri"/>
              <a:sym typeface="Calibri"/>
            </a:endParaRPr>
          </a:p>
          <a:p>
            <a:pPr indent="0" lvl="0" marL="0" rtl="0" algn="l">
              <a:lnSpc>
                <a:spcPct val="115000"/>
              </a:lnSpc>
              <a:spcBef>
                <a:spcPts val="800"/>
              </a:spcBef>
              <a:spcAft>
                <a:spcPts val="0"/>
              </a:spcAft>
              <a:buNone/>
            </a:pPr>
            <a:r>
              <a:rPr lang="en-US" sz="1300"/>
              <a:t>•</a:t>
            </a:r>
            <a:r>
              <a:rPr b="1" lang="en-US" sz="1300">
                <a:solidFill>
                  <a:srgbClr val="1B2A34"/>
                </a:solidFill>
                <a:latin typeface="Calibri"/>
                <a:ea typeface="Calibri"/>
                <a:cs typeface="Calibri"/>
                <a:sym typeface="Calibri"/>
              </a:rPr>
              <a:t>M-2B is most exposed: </a:t>
            </a:r>
            <a:r>
              <a:rPr lang="en-US" sz="1300">
                <a:solidFill>
                  <a:srgbClr val="1B2A34"/>
                </a:solidFill>
                <a:latin typeface="Calibri"/>
                <a:ea typeface="Calibri"/>
                <a:cs typeface="Calibri"/>
                <a:sym typeface="Calibri"/>
              </a:rPr>
              <a:t>2.7 points per 100 bp in base and 3.6 in moderate, where its life stretches to 3.8 years.</a:t>
            </a:r>
            <a:endParaRPr sz="1300">
              <a:solidFill>
                <a:srgbClr val="1B2A34"/>
              </a:solidFill>
              <a:latin typeface="Calibri"/>
              <a:ea typeface="Calibri"/>
              <a:cs typeface="Calibri"/>
              <a:sym typeface="Calibri"/>
            </a:endParaRPr>
          </a:p>
          <a:p>
            <a:pPr indent="0" lvl="0" marL="0" rtl="0" algn="l">
              <a:lnSpc>
                <a:spcPct val="115000"/>
              </a:lnSpc>
              <a:spcBef>
                <a:spcPts val="800"/>
              </a:spcBef>
              <a:spcAft>
                <a:spcPts val="0"/>
              </a:spcAft>
              <a:buNone/>
            </a:pPr>
            <a:r>
              <a:rPr lang="en-US" sz="1300"/>
              <a:t>•</a:t>
            </a:r>
            <a:r>
              <a:rPr b="1" lang="en-US" sz="1300">
                <a:solidFill>
                  <a:srgbClr val="1B2A34"/>
                </a:solidFill>
                <a:latin typeface="Calibri"/>
                <a:ea typeface="Calibri"/>
                <a:cs typeface="Calibri"/>
                <a:sym typeface="Calibri"/>
              </a:rPr>
              <a:t>Engine check: </a:t>
            </a:r>
            <a:r>
              <a:rPr lang="en-US" sz="1300">
                <a:solidFill>
                  <a:srgbClr val="1B2A34"/>
                </a:solidFill>
                <a:latin typeface="Calibri"/>
                <a:ea typeface="Calibri"/>
                <a:cs typeface="Calibri"/>
                <a:sym typeface="Calibri"/>
              </a:rPr>
              <a:t>at its own coupon spread every class prices at 100.10 (par plus accrued) in every scenario, as a floater should.</a:t>
            </a:r>
            <a:endParaRPr sz="1300">
              <a:solidFill>
                <a:srgbClr val="1B2A34"/>
              </a:solidFill>
              <a:latin typeface="Calibri"/>
              <a:ea typeface="Calibri"/>
              <a:cs typeface="Calibri"/>
              <a:sym typeface="Calibri"/>
            </a:endParaRPr>
          </a:p>
          <a:p>
            <a:pPr indent="0" lvl="0" marL="0" rtl="0" algn="l">
              <a:lnSpc>
                <a:spcPct val="115000"/>
              </a:lnSpc>
              <a:spcBef>
                <a:spcPts val="800"/>
              </a:spcBef>
              <a:spcAft>
                <a:spcPts val="0"/>
              </a:spcAft>
              <a:buNone/>
            </a:pPr>
            <a:r>
              <a:rPr lang="en-US" sz="1300"/>
              <a:t>•</a:t>
            </a:r>
            <a:r>
              <a:rPr b="1" lang="en-US" sz="1300">
                <a:solidFill>
                  <a:srgbClr val="1B2A34"/>
                </a:solidFill>
                <a:latin typeface="Calibri"/>
                <a:ea typeface="Calibri"/>
                <a:cs typeface="Calibri"/>
                <a:sym typeface="Calibri"/>
              </a:rPr>
              <a:t>DM from a price: </a:t>
            </a:r>
            <a:r>
              <a:rPr lang="en-US" sz="1300">
                <a:solidFill>
                  <a:srgbClr val="1B2A34"/>
                </a:solidFill>
                <a:latin typeface="Calibri"/>
                <a:ea typeface="Calibri"/>
                <a:cs typeface="Calibri"/>
                <a:sym typeface="Calibri"/>
              </a:rPr>
              <a:t>we solve for the DM by bisection, which is how we compare with Bloomberg next.</a:t>
            </a:r>
            <a:endParaRPr sz="1300">
              <a:solidFill>
                <a:srgbClr val="1B2A34"/>
              </a:solidFill>
              <a:latin typeface="Calibri"/>
              <a:ea typeface="Calibri"/>
              <a:cs typeface="Calibri"/>
              <a:sym typeface="Calibri"/>
            </a:endParaRPr>
          </a:p>
          <a:p>
            <a:pPr indent="0" lvl="0" marL="0" marR="0" rtl="0" algn="l">
              <a:spcBef>
                <a:spcPts val="800"/>
              </a:spcBef>
              <a:spcAft>
                <a:spcPts val="0"/>
              </a:spcAft>
              <a:buClr>
                <a:schemeClr val="dk1"/>
              </a:buClr>
              <a:buSzPts val="1300"/>
              <a:buFont typeface="Calibri"/>
              <a:buNone/>
            </a:pPr>
            <a:r>
              <a:t/>
            </a:r>
            <a:endParaRPr b="1" sz="1300">
              <a:solidFill>
                <a:schemeClr val="dk1"/>
              </a:solidFill>
              <a:latin typeface="Calibri"/>
              <a:ea typeface="Calibri"/>
              <a:cs typeface="Calibri"/>
              <a:sym typeface="Calibri"/>
            </a:endParaRPr>
          </a:p>
        </p:txBody>
      </p:sp>
      <p:sp>
        <p:nvSpPr>
          <p:cNvPr id="303" name="Google Shape;303;p19"/>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graphicFrame>
        <p:nvGraphicFramePr>
          <p:cNvPr id="304" name="Google Shape;304;p19"/>
          <p:cNvGraphicFramePr/>
          <p:nvPr/>
        </p:nvGraphicFramePr>
        <p:xfrm>
          <a:off x="555313" y="1577413"/>
          <a:ext cx="3000000" cy="3000000"/>
        </p:xfrm>
        <a:graphic>
          <a:graphicData uri="http://schemas.openxmlformats.org/drawingml/2006/table">
            <a:tbl>
              <a:tblPr>
                <a:noFill/>
                <a:tableStyleId>{25C77E93-19F6-4675-AD0D-53BB172675F8}</a:tableStyleId>
              </a:tblPr>
              <a:tblGrid>
                <a:gridCol w="1609725"/>
                <a:gridCol w="1200150"/>
                <a:gridCol w="1209675"/>
                <a:gridCol w="1200150"/>
                <a:gridCol w="1533525"/>
              </a:tblGrid>
              <a:tr h="361950">
                <a:tc>
                  <a:txBody>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Base case</a:t>
                      </a:r>
                      <a:endParaRPr b="1" sz="1300">
                        <a:solidFill>
                          <a:schemeClr val="lt1"/>
                        </a:solidFill>
                        <a:latin typeface="Calibri"/>
                        <a:ea typeface="Calibri"/>
                        <a:cs typeface="Calibri"/>
                        <a:sym typeface="Calibri"/>
                      </a:endParaRPr>
                    </a:p>
                  </a:txBody>
                  <a:tcPr marT="91425" marB="91425" marR="91425" marL="91425">
                    <a:lnL cap="flat" cmpd="sng" w="9525">
                      <a:solidFill>
                        <a:srgbClr val="13374A"/>
                      </a:solidFill>
                      <a:prstDash val="solid"/>
                      <a:round/>
                      <a:headEnd len="sm" w="sm" type="none"/>
                      <a:tailEnd len="sm" w="sm" type="none"/>
                    </a:lnL>
                    <a:lnR cap="flat" cmpd="sng" w="9525">
                      <a:solidFill>
                        <a:srgbClr val="13374A"/>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13374A"/>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WAL (yrs)</a:t>
                      </a:r>
                      <a:endParaRPr b="1" sz="1300">
                        <a:solidFill>
                          <a:schemeClr val="lt1"/>
                        </a:solidFill>
                        <a:latin typeface="Calibri"/>
                        <a:ea typeface="Calibri"/>
                        <a:cs typeface="Calibri"/>
                        <a:sym typeface="Calibri"/>
                      </a:endParaRPr>
                    </a:p>
                  </a:txBody>
                  <a:tcPr marT="91425" marB="91425" marR="91425" marL="91425">
                    <a:lnL cap="flat" cmpd="sng" w="9525">
                      <a:solidFill>
                        <a:srgbClr val="13374A"/>
                      </a:solidFill>
                      <a:prstDash val="solid"/>
                      <a:round/>
                      <a:headEnd len="sm" w="sm" type="none"/>
                      <a:tailEnd len="sm" w="sm" type="none"/>
                    </a:lnL>
                    <a:lnR cap="flat" cmpd="sng" w="9525">
                      <a:solidFill>
                        <a:srgbClr val="13374A"/>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13374A"/>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DM 0 bp</a:t>
                      </a:r>
                      <a:endParaRPr b="1" sz="1300">
                        <a:solidFill>
                          <a:schemeClr val="lt1"/>
                        </a:solidFill>
                        <a:latin typeface="Calibri"/>
                        <a:ea typeface="Calibri"/>
                        <a:cs typeface="Calibri"/>
                        <a:sym typeface="Calibri"/>
                      </a:endParaRPr>
                    </a:p>
                  </a:txBody>
                  <a:tcPr marT="91425" marB="91425" marR="91425" marL="91425">
                    <a:lnL cap="flat" cmpd="sng" w="9525">
                      <a:solidFill>
                        <a:srgbClr val="13374A"/>
                      </a:solidFill>
                      <a:prstDash val="solid"/>
                      <a:round/>
                      <a:headEnd len="sm" w="sm" type="none"/>
                      <a:tailEnd len="sm" w="sm" type="none"/>
                    </a:lnL>
                    <a:lnR cap="flat" cmpd="sng" w="9525">
                      <a:solidFill>
                        <a:srgbClr val="13374A"/>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13374A"/>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DM 200 bp</a:t>
                      </a:r>
                      <a:endParaRPr b="1" sz="1300">
                        <a:solidFill>
                          <a:schemeClr val="lt1"/>
                        </a:solidFill>
                        <a:latin typeface="Calibri"/>
                        <a:ea typeface="Calibri"/>
                        <a:cs typeface="Calibri"/>
                        <a:sym typeface="Calibri"/>
                      </a:endParaRPr>
                    </a:p>
                  </a:txBody>
                  <a:tcPr marT="91425" marB="91425" marR="91425" marL="91425">
                    <a:lnL cap="flat" cmpd="sng" w="9525">
                      <a:solidFill>
                        <a:srgbClr val="13374A"/>
                      </a:solidFill>
                      <a:prstDash val="solid"/>
                      <a:round/>
                      <a:headEnd len="sm" w="sm" type="none"/>
                      <a:tailEnd len="sm" w="sm" type="none"/>
                    </a:lnL>
                    <a:lnR cap="flat" cmpd="sng" w="9525">
                      <a:solidFill>
                        <a:srgbClr val="13374A"/>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13374A"/>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Points per 100 bp</a:t>
                      </a:r>
                      <a:endParaRPr b="1" sz="1300">
                        <a:solidFill>
                          <a:schemeClr val="lt1"/>
                        </a:solidFill>
                        <a:latin typeface="Calibri"/>
                        <a:ea typeface="Calibri"/>
                        <a:cs typeface="Calibri"/>
                        <a:sym typeface="Calibri"/>
                      </a:endParaRPr>
                    </a:p>
                  </a:txBody>
                  <a:tcPr marT="91425" marB="91425" marR="91425" marL="91425">
                    <a:lnL cap="flat" cmpd="sng" w="9525">
                      <a:solidFill>
                        <a:srgbClr val="13374A"/>
                      </a:solidFill>
                      <a:prstDash val="solid"/>
                      <a:round/>
                      <a:headEnd len="sm" w="sm" type="none"/>
                      <a:tailEnd len="sm" w="sm" type="none"/>
                    </a:lnL>
                    <a:lnR cap="flat" cmpd="sng" w="9525">
                      <a:solidFill>
                        <a:srgbClr val="13374A"/>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13374A"/>
                      </a:solidFill>
                      <a:prstDash val="solid"/>
                      <a:round/>
                      <a:headEnd len="sm" w="sm" type="none"/>
                      <a:tailEnd len="sm" w="sm" type="none"/>
                    </a:lnB>
                    <a:solidFill>
                      <a:srgbClr val="13374A"/>
                    </a:solidFill>
                  </a:tcPr>
                </a:tc>
              </a:tr>
              <a:tr h="361950">
                <a:tc>
                  <a:txBody>
                    <a:bodyPr/>
                    <a:lstStyle/>
                    <a:p>
                      <a:pPr indent="0" lvl="0" marL="0" rtl="0" algn="l">
                        <a:lnSpc>
                          <a:spcPct val="115000"/>
                        </a:lnSpc>
                        <a:spcBef>
                          <a:spcPts val="0"/>
                        </a:spcBef>
                        <a:spcAft>
                          <a:spcPts val="0"/>
                        </a:spcAft>
                        <a:buNone/>
                      </a:pPr>
                      <a:r>
                        <a:rPr b="1" lang="en-US" sz="1300">
                          <a:solidFill>
                            <a:srgbClr val="1B2A34"/>
                          </a:solidFill>
                          <a:latin typeface="Calibri"/>
                          <a:ea typeface="Calibri"/>
                          <a:cs typeface="Calibri"/>
                          <a:sym typeface="Calibri"/>
                        </a:rPr>
                        <a:t>A-1 (85 bp)</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1.40</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101.26</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98.57</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1.35</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13374A"/>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r>
              <a:tr h="361950">
                <a:tc>
                  <a:txBody>
                    <a:bodyPr/>
                    <a:lstStyle/>
                    <a:p>
                      <a:pPr indent="0" lvl="0" marL="0" rtl="0" algn="l">
                        <a:lnSpc>
                          <a:spcPct val="115000"/>
                        </a:lnSpc>
                        <a:spcBef>
                          <a:spcPts val="0"/>
                        </a:spcBef>
                        <a:spcAft>
                          <a:spcPts val="0"/>
                        </a:spcAft>
                        <a:buNone/>
                      </a:pPr>
                      <a:r>
                        <a:rPr b="1" lang="en-US" sz="1300">
                          <a:solidFill>
                            <a:srgbClr val="1B2A34"/>
                          </a:solidFill>
                          <a:latin typeface="Calibri"/>
                          <a:ea typeface="Calibri"/>
                          <a:cs typeface="Calibri"/>
                          <a:sym typeface="Calibri"/>
                        </a:rPr>
                        <a:t>M-1 (100 bp)</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1.20</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101.28</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98.95</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1.17</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r>
              <a:tr h="361950">
                <a:tc>
                  <a:txBody>
                    <a:bodyPr/>
                    <a:lstStyle/>
                    <a:p>
                      <a:pPr indent="0" lvl="0" marL="0" rtl="0" algn="l">
                        <a:lnSpc>
                          <a:spcPct val="115000"/>
                        </a:lnSpc>
                        <a:spcBef>
                          <a:spcPts val="0"/>
                        </a:spcBef>
                        <a:spcAft>
                          <a:spcPts val="0"/>
                        </a:spcAft>
                        <a:buNone/>
                      </a:pPr>
                      <a:r>
                        <a:rPr b="1" lang="en-US" sz="1300">
                          <a:solidFill>
                            <a:srgbClr val="1B2A34"/>
                          </a:solidFill>
                          <a:latin typeface="Calibri"/>
                          <a:ea typeface="Calibri"/>
                          <a:cs typeface="Calibri"/>
                          <a:sym typeface="Calibri"/>
                        </a:rPr>
                        <a:t>M-2A (130 bp)</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2.43</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103.16</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98.51</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2.33</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r>
              <a:tr h="361950">
                <a:tc>
                  <a:txBody>
                    <a:bodyPr/>
                    <a:lstStyle/>
                    <a:p>
                      <a:pPr indent="0" lvl="0" marL="0" rtl="0" algn="l">
                        <a:lnSpc>
                          <a:spcPct val="115000"/>
                        </a:lnSpc>
                        <a:spcBef>
                          <a:spcPts val="0"/>
                        </a:spcBef>
                        <a:spcAft>
                          <a:spcPts val="0"/>
                        </a:spcAft>
                        <a:buNone/>
                      </a:pPr>
                      <a:r>
                        <a:rPr b="1" lang="en-US" sz="1300">
                          <a:solidFill>
                            <a:srgbClr val="1B2A34"/>
                          </a:solidFill>
                          <a:latin typeface="Calibri"/>
                          <a:ea typeface="Calibri"/>
                          <a:cs typeface="Calibri"/>
                          <a:sym typeface="Calibri"/>
                        </a:rPr>
                        <a:t>M-2B (130 bp)</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2.82</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103.63</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98.27</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2.68</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r>
            </a:tbl>
          </a:graphicData>
        </a:graphic>
      </p:graphicFrame>
      <p:graphicFrame>
        <p:nvGraphicFramePr>
          <p:cNvPr id="305" name="Google Shape;305;p19"/>
          <p:cNvGraphicFramePr/>
          <p:nvPr/>
        </p:nvGraphicFramePr>
        <p:xfrm>
          <a:off x="548650" y="3886225"/>
          <a:ext cx="3000000" cy="3000000"/>
        </p:xfrm>
        <a:graphic>
          <a:graphicData uri="http://schemas.openxmlformats.org/drawingml/2006/table">
            <a:tbl>
              <a:tblPr>
                <a:noFill/>
                <a:tableStyleId>{25C77E93-19F6-4675-AD0D-53BB172675F8}</a:tableStyleId>
              </a:tblPr>
              <a:tblGrid>
                <a:gridCol w="1666875"/>
                <a:gridCol w="1724025"/>
                <a:gridCol w="1724025"/>
                <a:gridCol w="1638300"/>
              </a:tblGrid>
              <a:tr h="361950">
                <a:tc>
                  <a:txBody>
                    <a:bodyPr/>
                    <a:lstStyle/>
                    <a:p>
                      <a:pPr indent="0" lvl="0" marL="0" rtl="0" algn="ctr">
                        <a:lnSpc>
                          <a:spcPct val="115000"/>
                        </a:lnSpc>
                        <a:spcBef>
                          <a:spcPts val="0"/>
                        </a:spcBef>
                        <a:spcAft>
                          <a:spcPts val="0"/>
                        </a:spcAft>
                        <a:buNone/>
                      </a:pPr>
                      <a:r>
                        <a:rPr b="1" lang="en-US" sz="1300">
                          <a:solidFill>
                            <a:srgbClr val="FFFFFF"/>
                          </a:solidFill>
                          <a:latin typeface="Calibri"/>
                          <a:ea typeface="Calibri"/>
                          <a:cs typeface="Calibri"/>
                          <a:sym typeface="Calibri"/>
                        </a:rPr>
                        <a:t>M-2B by scenario</a:t>
                      </a:r>
                      <a:endParaRPr b="1" sz="1300">
                        <a:solidFill>
                          <a:srgbClr val="FFFFFF"/>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rgbClr val="FFFFFF"/>
                          </a:solidFill>
                          <a:latin typeface="Calibri"/>
                          <a:ea typeface="Calibri"/>
                          <a:cs typeface="Calibri"/>
                          <a:sym typeface="Calibri"/>
                        </a:rPr>
                        <a:t>WAL (yrs)</a:t>
                      </a:r>
                      <a:endParaRPr b="1" sz="1300">
                        <a:solidFill>
                          <a:srgbClr val="FFFFFF"/>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rgbClr val="FFFFFF"/>
                          </a:solidFill>
                          <a:latin typeface="Calibri"/>
                          <a:ea typeface="Calibri"/>
                          <a:cs typeface="Calibri"/>
                          <a:sym typeface="Calibri"/>
                        </a:rPr>
                        <a:t>Points per 100 bp</a:t>
                      </a:r>
                      <a:endParaRPr b="1" sz="1300">
                        <a:solidFill>
                          <a:srgbClr val="FFFFFF"/>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3374A"/>
                    </a:solidFill>
                  </a:tcPr>
                </a:tc>
                <a:tc>
                  <a:txBody>
                    <a:bodyPr/>
                    <a:lstStyle/>
                    <a:p>
                      <a:pPr indent="0" lvl="0" marL="0" rtl="0" algn="ctr">
                        <a:lnSpc>
                          <a:spcPct val="115000"/>
                        </a:lnSpc>
                        <a:spcBef>
                          <a:spcPts val="0"/>
                        </a:spcBef>
                        <a:spcAft>
                          <a:spcPts val="0"/>
                        </a:spcAft>
                        <a:buNone/>
                      </a:pPr>
                      <a:r>
                        <a:rPr b="1" lang="en-US" sz="1300">
                          <a:solidFill>
                            <a:srgbClr val="FFFFFF"/>
                          </a:solidFill>
                          <a:latin typeface="Calibri"/>
                          <a:ea typeface="Calibri"/>
                          <a:cs typeface="Calibri"/>
                          <a:sym typeface="Calibri"/>
                        </a:rPr>
                        <a:t>Cost of +50 bp</a:t>
                      </a:r>
                      <a:endParaRPr b="1" sz="1300">
                        <a:solidFill>
                          <a:srgbClr val="FFFFFF"/>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3374A"/>
                    </a:solidFill>
                  </a:tcPr>
                </a:tc>
              </a:tr>
              <a:tr h="361950">
                <a:tc>
                  <a:txBody>
                    <a:bodyPr/>
                    <a:lstStyle/>
                    <a:p>
                      <a:pPr indent="0" lvl="0" marL="0" rtl="0" algn="l">
                        <a:lnSpc>
                          <a:spcPct val="115000"/>
                        </a:lnSpc>
                        <a:spcBef>
                          <a:spcPts val="0"/>
                        </a:spcBef>
                        <a:spcAft>
                          <a:spcPts val="0"/>
                        </a:spcAft>
                        <a:buNone/>
                      </a:pPr>
                      <a:r>
                        <a:rPr b="1" lang="en-US" sz="1300">
                          <a:solidFill>
                            <a:srgbClr val="2E8B57"/>
                          </a:solidFill>
                          <a:latin typeface="Calibri"/>
                          <a:ea typeface="Calibri"/>
                          <a:cs typeface="Calibri"/>
                          <a:sym typeface="Calibri"/>
                        </a:rPr>
                        <a:t>Good</a:t>
                      </a:r>
                      <a:endParaRPr b="1" sz="1300">
                        <a:solidFill>
                          <a:srgbClr val="2E8B57"/>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2.70</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2.58</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−1.27</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r h="361950">
                <a:tc>
                  <a:txBody>
                    <a:bodyPr/>
                    <a:lstStyle/>
                    <a:p>
                      <a:pPr indent="0" lvl="0" marL="0" rtl="0" algn="l">
                        <a:lnSpc>
                          <a:spcPct val="115000"/>
                        </a:lnSpc>
                        <a:spcBef>
                          <a:spcPts val="0"/>
                        </a:spcBef>
                        <a:spcAft>
                          <a:spcPts val="0"/>
                        </a:spcAft>
                        <a:buNone/>
                      </a:pPr>
                      <a:r>
                        <a:rPr b="1" lang="en-US" sz="1300">
                          <a:solidFill>
                            <a:srgbClr val="1F6F8B"/>
                          </a:solidFill>
                          <a:latin typeface="Calibri"/>
                          <a:ea typeface="Calibri"/>
                          <a:cs typeface="Calibri"/>
                          <a:sym typeface="Calibri"/>
                        </a:rPr>
                        <a:t>Base</a:t>
                      </a:r>
                      <a:endParaRPr b="1" sz="1300">
                        <a:solidFill>
                          <a:srgbClr val="1F6F8B"/>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2.82</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2.68</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−1.32</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r h="361950">
                <a:tc>
                  <a:txBody>
                    <a:bodyPr/>
                    <a:lstStyle/>
                    <a:p>
                      <a:pPr indent="0" lvl="0" marL="0" rtl="0" algn="l">
                        <a:lnSpc>
                          <a:spcPct val="115000"/>
                        </a:lnSpc>
                        <a:spcBef>
                          <a:spcPts val="0"/>
                        </a:spcBef>
                        <a:spcAft>
                          <a:spcPts val="0"/>
                        </a:spcAft>
                        <a:buNone/>
                      </a:pPr>
                      <a:r>
                        <a:rPr b="1" lang="en-US" sz="1300">
                          <a:solidFill>
                            <a:srgbClr val="D9922E"/>
                          </a:solidFill>
                          <a:latin typeface="Calibri"/>
                          <a:ea typeface="Calibri"/>
                          <a:cs typeface="Calibri"/>
                          <a:sym typeface="Calibri"/>
                        </a:rPr>
                        <a:t>Moderate</a:t>
                      </a:r>
                      <a:endParaRPr b="1" sz="1300">
                        <a:solidFill>
                          <a:srgbClr val="D9922E"/>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3.84</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3.55</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−1.74</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r h="361950">
                <a:tc>
                  <a:txBody>
                    <a:bodyPr/>
                    <a:lstStyle/>
                    <a:p>
                      <a:pPr indent="0" lvl="0" marL="0" rtl="0" algn="l">
                        <a:lnSpc>
                          <a:spcPct val="115000"/>
                        </a:lnSpc>
                        <a:spcBef>
                          <a:spcPts val="0"/>
                        </a:spcBef>
                        <a:spcAft>
                          <a:spcPts val="0"/>
                        </a:spcAft>
                        <a:buNone/>
                      </a:pPr>
                      <a:r>
                        <a:rPr b="1" lang="en-US" sz="1300">
                          <a:solidFill>
                            <a:srgbClr val="B23A3A"/>
                          </a:solidFill>
                          <a:latin typeface="Calibri"/>
                          <a:ea typeface="Calibri"/>
                          <a:cs typeface="Calibri"/>
                          <a:sym typeface="Calibri"/>
                        </a:rPr>
                        <a:t>Severe</a:t>
                      </a:r>
                      <a:endParaRPr b="1" sz="1300">
                        <a:solidFill>
                          <a:srgbClr val="B23A3A"/>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3.16</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rgbClr val="1B2A34"/>
                          </a:solidFill>
                          <a:latin typeface="Calibri"/>
                          <a:ea typeface="Calibri"/>
                          <a:cs typeface="Calibri"/>
                          <a:sym typeface="Calibri"/>
                        </a:rPr>
                        <a:t>3.06</a:t>
                      </a:r>
                      <a:endParaRPr b="1"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CADCE6"/>
                    </a:solidFill>
                  </a:tcPr>
                </a:tc>
                <a:tc>
                  <a:txBody>
                    <a:bodyPr/>
                    <a:lstStyle/>
                    <a:p>
                      <a:pPr indent="0" lvl="0" marL="0" rtl="0" algn="ctr">
                        <a:lnSpc>
                          <a:spcPct val="115000"/>
                        </a:lnSpc>
                        <a:spcBef>
                          <a:spcPts val="0"/>
                        </a:spcBef>
                        <a:spcAft>
                          <a:spcPts val="0"/>
                        </a:spcAft>
                        <a:buNone/>
                      </a:pPr>
                      <a:r>
                        <a:rPr lang="en-US" sz="1300">
                          <a:solidFill>
                            <a:srgbClr val="1B2A34"/>
                          </a:solidFill>
                          <a:latin typeface="Calibri"/>
                          <a:ea typeface="Calibri"/>
                          <a:cs typeface="Calibri"/>
                          <a:sym typeface="Calibri"/>
                        </a:rPr>
                        <a:t>−1.50</a:t>
                      </a:r>
                      <a:endParaRPr sz="1300">
                        <a:solidFill>
                          <a:srgbClr val="1B2A34"/>
                        </a:solidFill>
                        <a:latin typeface="Calibri"/>
                        <a:ea typeface="Calibri"/>
                        <a:cs typeface="Calibri"/>
                        <a:sym typeface="Calibri"/>
                      </a:endParaRPr>
                    </a:p>
                  </a:txBody>
                  <a:tcPr marT="91425" marB="91425" marR="91425" marL="91425">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tcPr>
                </a:tc>
              </a:tr>
            </a:tbl>
          </a:graphicData>
        </a:graphic>
      </p:graphicFrame>
      <p:sp>
        <p:nvSpPr>
          <p:cNvPr id="306" name="Google Shape;306;p19"/>
          <p:cNvSpPr txBox="1"/>
          <p:nvPr/>
        </p:nvSpPr>
        <p:spPr>
          <a:xfrm>
            <a:off x="7589525" y="5275400"/>
            <a:ext cx="4023300" cy="615000"/>
          </a:xfrm>
          <a:prstGeom prst="rect">
            <a:avLst/>
          </a:prstGeom>
          <a:solidFill>
            <a:schemeClr val="dk2"/>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1300">
                <a:solidFill>
                  <a:schemeClr val="lt1"/>
                </a:solidFill>
                <a:latin typeface="Calibri"/>
                <a:ea typeface="Calibri"/>
                <a:cs typeface="Calibri"/>
                <a:sym typeface="Calibri"/>
              </a:rPr>
              <a:t>For investors: </a:t>
            </a:r>
            <a:r>
              <a:rPr lang="en-US" sz="1300">
                <a:solidFill>
                  <a:schemeClr val="lt1"/>
                </a:solidFill>
                <a:latin typeface="Calibri"/>
                <a:ea typeface="Calibri"/>
                <a:cs typeface="Calibri"/>
                <a:sym typeface="Calibri"/>
              </a:rPr>
              <a:t>a 50 bp spread widening costs M-2B about 1.3 points in base and 1.7 in moderate; A-1 about 0.7.</a:t>
            </a:r>
            <a:endParaRPr sz="13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0"/>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Bloomberg agrees on credit; M-2 is priced for extension</a:t>
            </a:r>
            <a:endParaRPr sz="2400"/>
          </a:p>
        </p:txBody>
      </p:sp>
      <p:graphicFrame>
        <p:nvGraphicFramePr>
          <p:cNvPr id="313" name="Google Shape;313;p20"/>
          <p:cNvGraphicFramePr/>
          <p:nvPr/>
        </p:nvGraphicFramePr>
        <p:xfrm>
          <a:off x="548640" y="1554480"/>
          <a:ext cx="3000000" cy="3000000"/>
        </p:xfrm>
        <a:graphic>
          <a:graphicData uri="http://schemas.openxmlformats.org/drawingml/2006/table">
            <a:tbl>
              <a:tblPr>
                <a:noFill/>
                <a:tableStyleId>{25C77E93-19F6-4675-AD0D-53BB172675F8}</a:tableStyleId>
              </a:tblPr>
              <a:tblGrid>
                <a:gridCol w="777250"/>
                <a:gridCol w="868675"/>
                <a:gridCol w="960125"/>
                <a:gridCol w="1783075"/>
                <a:gridCol w="1737350"/>
                <a:gridCol w="914400"/>
                <a:gridCol w="914400"/>
                <a:gridCol w="1600200"/>
                <a:gridCol w="1508750"/>
              </a:tblGrid>
              <a:tr h="420625">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Class</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Factor</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BBG WAL</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Our base WAL (range)</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BBG bid / ask</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Ask DM</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Coupon</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Our base DM at ask</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rPr>
                        <a:t>Our moderate DM</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4206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A-1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0.7375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1.39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1.40 (1.40–1.40)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99.844 / 99.978</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87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85</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87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87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M-1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0.5720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1.23</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1.20 (1.16–1.87)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99.875 / 100.027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98</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98</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M-2A</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1.0000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2.78</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2.43 (2.28–3.47)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99.377 / 99.720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141</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130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142</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139</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1B2A34"/>
                        </a:buClr>
                        <a:buSzPts val="1200"/>
                        <a:buFont typeface="Calibri"/>
                        <a:buNone/>
                      </a:pPr>
                      <a:r>
                        <a:rPr b="1" lang="en-US" sz="1200" u="none" cap="none" strike="noStrike">
                          <a:solidFill>
                            <a:srgbClr val="1B2A34"/>
                          </a:solidFill>
                        </a:rPr>
                        <a:t>M-2B</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1.0000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3.48</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2.82 (2.70–3.84)</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98.761 / 99.148</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157</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lang="en-US" sz="1200" u="none" cap="none" strike="noStrike">
                          <a:solidFill>
                            <a:srgbClr val="1B2A34"/>
                          </a:solidFill>
                        </a:rPr>
                        <a:t>130</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162</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B2A34"/>
                        </a:buClr>
                        <a:buSzPts val="1200"/>
                        <a:buFont typeface="Calibri"/>
                        <a:buNone/>
                      </a:pPr>
                      <a:r>
                        <a:rPr b="1" lang="en-US" sz="1200" u="none" cap="none" strike="noStrike">
                          <a:solidFill>
                            <a:srgbClr val="1B2A34"/>
                          </a:solidFill>
                        </a:rPr>
                        <a:t>154</a:t>
                      </a:r>
                      <a:endParaRPr sz="12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314" name="Google Shape;314;p20"/>
          <p:cNvSpPr txBox="1"/>
          <p:nvPr/>
        </p:nvSpPr>
        <p:spPr>
          <a:xfrm>
            <a:off x="548640" y="3730752"/>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000"/>
              <a:buFont typeface="Calibri"/>
              <a:buNone/>
            </a:pPr>
            <a:r>
              <a:rPr b="0" i="0" lang="en-US" sz="1000" u="none" cap="none" strike="noStrike">
                <a:solidFill>
                  <a:srgbClr val="5A6B78"/>
                </a:solidFill>
                <a:latin typeface="Calibri"/>
                <a:ea typeface="Calibri"/>
                <a:cs typeface="Calibri"/>
                <a:sym typeface="Calibri"/>
              </a:rPr>
              <a:t>Bloomberg as of October 2, 2026; DMs in bp. "Our DM at ask" is the DM that makes our projected cash flows worth Bloomberg's ask price plus accrued.</a:t>
            </a:r>
            <a:endParaRPr b="0" i="0" sz="1000" u="none" cap="none" strike="noStrike">
              <a:solidFill>
                <a:schemeClr val="dk1"/>
              </a:solidFill>
              <a:latin typeface="Calibri"/>
              <a:ea typeface="Calibri"/>
              <a:cs typeface="Calibri"/>
              <a:sym typeface="Calibri"/>
            </a:endParaRPr>
          </a:p>
        </p:txBody>
      </p:sp>
      <p:sp>
        <p:nvSpPr>
          <p:cNvPr id="315" name="Google Shape;315;p20"/>
          <p:cNvSpPr/>
          <p:nvPr/>
        </p:nvSpPr>
        <p:spPr>
          <a:xfrm>
            <a:off x="548640" y="4160520"/>
            <a:ext cx="2628900" cy="2011680"/>
          </a:xfrm>
          <a:prstGeom prst="roundRect">
            <a:avLst>
              <a:gd fmla="val 363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0"/>
          <p:cNvSpPr txBox="1"/>
          <p:nvPr/>
        </p:nvSpPr>
        <p:spPr>
          <a:xfrm>
            <a:off x="731520" y="4279392"/>
            <a:ext cx="22631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Balances match</a:t>
            </a:r>
            <a:endParaRPr b="0" i="0" sz="1500" u="none" cap="none" strike="noStrike">
              <a:solidFill>
                <a:schemeClr val="dk1"/>
              </a:solidFill>
              <a:latin typeface="Calibri"/>
              <a:ea typeface="Calibri"/>
              <a:cs typeface="Calibri"/>
              <a:sym typeface="Calibri"/>
            </a:endParaRPr>
          </a:p>
        </p:txBody>
      </p:sp>
      <p:sp>
        <p:nvSpPr>
          <p:cNvPr id="317" name="Google Shape;317;p20"/>
          <p:cNvSpPr txBox="1"/>
          <p:nvPr/>
        </p:nvSpPr>
        <p:spPr>
          <a:xfrm>
            <a:off x="731520" y="4681728"/>
            <a:ext cx="22631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Bloomberg factors and balances equal the ones our waterfall uses for every class. 16 output tests pass.</a:t>
            </a:r>
            <a:endParaRPr b="0" i="0" sz="1200" u="none" cap="none" strike="noStrike">
              <a:solidFill>
                <a:schemeClr val="dk1"/>
              </a:solidFill>
              <a:latin typeface="Calibri"/>
              <a:ea typeface="Calibri"/>
              <a:cs typeface="Calibri"/>
              <a:sym typeface="Calibri"/>
            </a:endParaRPr>
          </a:p>
        </p:txBody>
      </p:sp>
      <p:sp>
        <p:nvSpPr>
          <p:cNvPr id="318" name="Google Shape;318;p20"/>
          <p:cNvSpPr/>
          <p:nvPr/>
        </p:nvSpPr>
        <p:spPr>
          <a:xfrm>
            <a:off x="3360420" y="4160520"/>
            <a:ext cx="2628900" cy="2011680"/>
          </a:xfrm>
          <a:prstGeom prst="roundRect">
            <a:avLst>
              <a:gd fmla="val 363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0"/>
          <p:cNvSpPr txBox="1"/>
          <p:nvPr/>
        </p:nvSpPr>
        <p:spPr>
          <a:xfrm>
            <a:off x="3543300" y="4279392"/>
            <a:ext cx="22631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Timing is in range</a:t>
            </a:r>
            <a:endParaRPr b="0" i="0" sz="1500" u="none" cap="none" strike="noStrike">
              <a:solidFill>
                <a:schemeClr val="dk1"/>
              </a:solidFill>
              <a:latin typeface="Calibri"/>
              <a:ea typeface="Calibri"/>
              <a:cs typeface="Calibri"/>
              <a:sym typeface="Calibri"/>
            </a:endParaRPr>
          </a:p>
        </p:txBody>
      </p:sp>
      <p:sp>
        <p:nvSpPr>
          <p:cNvPr id="320" name="Google Shape;320;p20"/>
          <p:cNvSpPr txBox="1"/>
          <p:nvPr/>
        </p:nvSpPr>
        <p:spPr>
          <a:xfrm>
            <a:off x="3543300" y="4681728"/>
            <a:ext cx="22631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Every Bloomberg WAL is inside our scenario range. A-1 and M-1 match our base; M-2 is near our moderate case.</a:t>
            </a:r>
            <a:endParaRPr b="0" i="0" sz="1200" u="none" cap="none" strike="noStrike">
              <a:solidFill>
                <a:schemeClr val="dk1"/>
              </a:solidFill>
              <a:latin typeface="Calibri"/>
              <a:ea typeface="Calibri"/>
              <a:cs typeface="Calibri"/>
              <a:sym typeface="Calibri"/>
            </a:endParaRPr>
          </a:p>
        </p:txBody>
      </p:sp>
      <p:sp>
        <p:nvSpPr>
          <p:cNvPr id="321" name="Google Shape;321;p20"/>
          <p:cNvSpPr/>
          <p:nvPr/>
        </p:nvSpPr>
        <p:spPr>
          <a:xfrm>
            <a:off x="6172200" y="4160520"/>
            <a:ext cx="2628900" cy="2011680"/>
          </a:xfrm>
          <a:prstGeom prst="roundRect">
            <a:avLst>
              <a:gd fmla="val 363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0"/>
          <p:cNvSpPr txBox="1"/>
          <p:nvPr/>
        </p:nvSpPr>
        <p:spPr>
          <a:xfrm>
            <a:off x="6355080" y="4279392"/>
            <a:ext cx="22631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Extension, not credit</a:t>
            </a:r>
            <a:endParaRPr b="0" i="0" sz="1500" u="none" cap="none" strike="noStrike">
              <a:solidFill>
                <a:schemeClr val="dk1"/>
              </a:solidFill>
              <a:latin typeface="Calibri"/>
              <a:ea typeface="Calibri"/>
              <a:cs typeface="Calibri"/>
              <a:sym typeface="Calibri"/>
            </a:endParaRPr>
          </a:p>
        </p:txBody>
      </p:sp>
      <p:sp>
        <p:nvSpPr>
          <p:cNvPr id="323" name="Google Shape;323;p20"/>
          <p:cNvSpPr txBox="1"/>
          <p:nvPr/>
        </p:nvSpPr>
        <p:spPr>
          <a:xfrm>
            <a:off x="6355080" y="4681728"/>
            <a:ext cx="22631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M-2A and M-2B trade 11–27 bp over their 130 bp coupon. No scenario writes them down, so the extra spread is for slower paydown.</a:t>
            </a:r>
            <a:endParaRPr b="0" i="0" sz="1200" u="none" cap="none" strike="noStrike">
              <a:solidFill>
                <a:schemeClr val="dk1"/>
              </a:solidFill>
              <a:latin typeface="Calibri"/>
              <a:ea typeface="Calibri"/>
              <a:cs typeface="Calibri"/>
              <a:sym typeface="Calibri"/>
            </a:endParaRPr>
          </a:p>
        </p:txBody>
      </p:sp>
      <p:sp>
        <p:nvSpPr>
          <p:cNvPr id="324" name="Google Shape;324;p20"/>
          <p:cNvSpPr/>
          <p:nvPr/>
        </p:nvSpPr>
        <p:spPr>
          <a:xfrm>
            <a:off x="8983980" y="4160520"/>
            <a:ext cx="2628900" cy="2011680"/>
          </a:xfrm>
          <a:prstGeom prst="roundRect">
            <a:avLst>
              <a:gd fmla="val 3636"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0"/>
          <p:cNvSpPr txBox="1"/>
          <p:nvPr/>
        </p:nvSpPr>
        <p:spPr>
          <a:xfrm>
            <a:off x="9166860" y="4279392"/>
            <a:ext cx="22631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500"/>
              <a:buFont typeface="Cambria"/>
              <a:buNone/>
            </a:pPr>
            <a:r>
              <a:rPr b="1" i="0" lang="en-US" sz="1500" u="none" cap="none" strike="noStrike">
                <a:solidFill>
                  <a:schemeClr val="dk2"/>
                </a:solidFill>
                <a:latin typeface="Cambria"/>
                <a:ea typeface="Cambria"/>
                <a:cs typeface="Cambria"/>
                <a:sym typeface="Cambria"/>
              </a:rPr>
              <a:t>M-2B looks fair</a:t>
            </a:r>
            <a:endParaRPr b="0" i="0" sz="1500" u="none" cap="none" strike="noStrike">
              <a:solidFill>
                <a:schemeClr val="dk1"/>
              </a:solidFill>
              <a:latin typeface="Calibri"/>
              <a:ea typeface="Calibri"/>
              <a:cs typeface="Calibri"/>
              <a:sym typeface="Calibri"/>
            </a:endParaRPr>
          </a:p>
        </p:txBody>
      </p:sp>
      <p:sp>
        <p:nvSpPr>
          <p:cNvPr id="326" name="Google Shape;326;p20"/>
          <p:cNvSpPr txBox="1"/>
          <p:nvPr/>
        </p:nvSpPr>
        <p:spPr>
          <a:xfrm>
            <a:off x="9166860" y="4681728"/>
            <a:ext cx="22631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At the ask, M-2B earns 162 bp on our base cash flows and 154 bp on moderate, against 157 bp quoted.</a:t>
            </a:r>
            <a:endParaRPr b="0" i="0" sz="1200" u="none" cap="none" strike="noStrike">
              <a:solidFill>
                <a:schemeClr val="dk1"/>
              </a:solidFill>
              <a:latin typeface="Calibri"/>
              <a:ea typeface="Calibri"/>
              <a:cs typeface="Calibri"/>
              <a:sym typeface="Calibri"/>
            </a:endParaRPr>
          </a:p>
        </p:txBody>
      </p:sp>
      <p:sp>
        <p:nvSpPr>
          <p:cNvPr id="327" name="Google Shape;327;p20"/>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1"/>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All five hypotheses hold, with a timing gap for M-2</a:t>
            </a:r>
            <a:endParaRPr sz="2400"/>
          </a:p>
        </p:txBody>
      </p:sp>
      <p:graphicFrame>
        <p:nvGraphicFramePr>
          <p:cNvPr id="334" name="Google Shape;334;p21"/>
          <p:cNvGraphicFramePr/>
          <p:nvPr/>
        </p:nvGraphicFramePr>
        <p:xfrm>
          <a:off x="548640" y="1554480"/>
          <a:ext cx="3000000" cy="3000000"/>
        </p:xfrm>
        <a:graphic>
          <a:graphicData uri="http://schemas.openxmlformats.org/drawingml/2006/table">
            <a:tbl>
              <a:tblPr>
                <a:noFill/>
                <a:tableStyleId>{25C77E93-19F6-4675-AD0D-53BB172675F8}</a:tableStyleId>
              </a:tblPr>
              <a:tblGrid>
                <a:gridCol w="640075"/>
                <a:gridCol w="4937750"/>
                <a:gridCol w="5486400"/>
              </a:tblGrid>
              <a:tr h="713225">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We expected</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We found</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14374A"/>
                    </a:solidFill>
                  </a:tcPr>
                </a:tc>
              </a:tr>
              <a:tr h="713225">
                <a:tc>
                  <a:txBody>
                    <a:bodyPr/>
                    <a:lstStyle/>
                    <a:p>
                      <a:pPr indent="0" lvl="0" marL="0" marR="0" rtl="0" algn="ctr">
                        <a:spcBef>
                          <a:spcPts val="0"/>
                        </a:spcBef>
                        <a:spcAft>
                          <a:spcPts val="0"/>
                        </a:spcAft>
                        <a:buClr>
                          <a:srgbClr val="1B2A34"/>
                        </a:buClr>
                        <a:buSzPts val="1400"/>
                        <a:buFont typeface="Calibri"/>
                        <a:buNone/>
                      </a:pPr>
                      <a:r>
                        <a:rPr lang="en-US" sz="1400" u="none" cap="none" strike="noStrike">
                          <a:solidFill>
                            <a:srgbClr val="1B2A34"/>
                          </a:solidFill>
                        </a:rPr>
                        <a:t>H1</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A strong pool loses well under 1% of cut-off, even in a 2008-style fall</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Supported: losses of 0.20–0.37% across scenarios</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713225">
                <a:tc>
                  <a:txBody>
                    <a:bodyPr/>
                    <a:lstStyle/>
                    <a:p>
                      <a:pPr indent="0" lvl="0" marL="0" marR="0" rtl="0" algn="ctr">
                        <a:spcBef>
                          <a:spcPts val="0"/>
                        </a:spcBef>
                        <a:spcAft>
                          <a:spcPts val="0"/>
                        </a:spcAft>
                        <a:buClr>
                          <a:srgbClr val="1B2A34"/>
                        </a:buClr>
                        <a:buSzPts val="1400"/>
                        <a:buFont typeface="Calibri"/>
                        <a:buNone/>
                      </a:pPr>
                      <a:r>
                        <a:rPr lang="en-US" sz="1400" u="none" cap="none" strike="noStrike">
                          <a:solidFill>
                            <a:srgbClr val="1B2A34"/>
                          </a:solidFill>
                        </a:rPr>
                        <a:t>H2</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The 1.90% below M-2B absorbs every projected loss</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Supported: zero write-downs for every offered class in every scenario</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713225">
                <a:tc>
                  <a:txBody>
                    <a:bodyPr/>
                    <a:lstStyle/>
                    <a:p>
                      <a:pPr indent="0" lvl="0" marL="0" marR="0" rtl="0" algn="ctr">
                        <a:spcBef>
                          <a:spcPts val="0"/>
                        </a:spcBef>
                        <a:spcAft>
                          <a:spcPts val="0"/>
                        </a:spcAft>
                        <a:buClr>
                          <a:srgbClr val="1B2A34"/>
                        </a:buClr>
                        <a:buSzPts val="1400"/>
                        <a:buFont typeface="Calibri"/>
                        <a:buNone/>
                      </a:pPr>
                      <a:r>
                        <a:rPr lang="en-US" sz="1400" u="none" cap="none" strike="noStrike">
                          <a:solidFill>
                            <a:srgbClr val="1B2A34"/>
                          </a:solidFill>
                        </a:rPr>
                        <a:t>H3</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Out-of-the-money loans prepay slowly, so extension is the main risk</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Supported: year-1 CPR of 7.6–10.9%; M lives extend about a year in moderate</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713225">
                <a:tc>
                  <a:txBody>
                    <a:bodyPr/>
                    <a:lstStyle/>
                    <a:p>
                      <a:pPr indent="0" lvl="0" marL="0" marR="0" rtl="0" algn="ctr">
                        <a:spcBef>
                          <a:spcPts val="0"/>
                        </a:spcBef>
                        <a:spcAft>
                          <a:spcPts val="0"/>
                        </a:spcAft>
                        <a:buClr>
                          <a:srgbClr val="1B2A34"/>
                        </a:buClr>
                        <a:buSzPts val="1400"/>
                        <a:buFont typeface="Calibri"/>
                        <a:buNone/>
                      </a:pPr>
                      <a:r>
                        <a:rPr lang="en-US" sz="1400" u="none" cap="none" strike="noStrike">
                          <a:solidFill>
                            <a:srgbClr val="1B2A34"/>
                          </a:solidFill>
                        </a:rPr>
                        <a:t>H4</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Floaters stay near par at their own spread</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Supported: about 100.10 (par plus accrued) for every class</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r h="713225">
                <a:tc>
                  <a:txBody>
                    <a:bodyPr/>
                    <a:lstStyle/>
                    <a:p>
                      <a:pPr indent="0" lvl="0" marL="0" marR="0" rtl="0" algn="ctr">
                        <a:spcBef>
                          <a:spcPts val="0"/>
                        </a:spcBef>
                        <a:spcAft>
                          <a:spcPts val="0"/>
                        </a:spcAft>
                        <a:buClr>
                          <a:srgbClr val="1B2A34"/>
                        </a:buClr>
                        <a:buSzPts val="1400"/>
                        <a:buFont typeface="Calibri"/>
                        <a:buNone/>
                      </a:pPr>
                      <a:r>
                        <a:rPr lang="en-US" sz="1400" u="none" cap="none" strike="noStrike">
                          <a:solidFill>
                            <a:srgbClr val="1B2A34"/>
                          </a:solidFill>
                        </a:rPr>
                        <a:t>H5</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Our timing and prices agree with the market</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2A34"/>
                        </a:buClr>
                        <a:buSzPts val="1400"/>
                        <a:buFont typeface="Calibri"/>
                        <a:buNone/>
                      </a:pPr>
                      <a:r>
                        <a:rPr lang="en-US" sz="1400" u="none" cap="none" strike="noStrike">
                          <a:solidFill>
                            <a:srgbClr val="1B2A34"/>
                          </a:solidFill>
                        </a:rPr>
                        <a:t>Supported, with a gap: A-1 and M-1 match our base; the market prices M-2 near our moderate case</a:t>
                      </a:r>
                      <a:endParaRPr sz="1400" u="none" cap="none" strike="noStrike"/>
                    </a:p>
                  </a:txBody>
                  <a:tcPr marT="45725" marB="45725" marR="45725" marL="45725" anchor="ctr">
                    <a:lnL cap="flat" cmpd="sng" w="9525">
                      <a:solidFill>
                        <a:srgbClr val="DCE3E8"/>
                      </a:solidFill>
                      <a:prstDash val="solid"/>
                      <a:round/>
                      <a:headEnd len="sm" w="sm" type="none"/>
                      <a:tailEnd len="sm" w="sm" type="none"/>
                    </a:lnL>
                    <a:lnR cap="flat" cmpd="sng" w="9525">
                      <a:solidFill>
                        <a:srgbClr val="DCE3E8"/>
                      </a:solidFill>
                      <a:prstDash val="solid"/>
                      <a:round/>
                      <a:headEnd len="sm" w="sm" type="none"/>
                      <a:tailEnd len="sm" w="sm" type="none"/>
                    </a:lnR>
                    <a:lnT cap="flat" cmpd="sng" w="9525">
                      <a:solidFill>
                        <a:srgbClr val="DCE3E8"/>
                      </a:solidFill>
                      <a:prstDash val="solid"/>
                      <a:round/>
                      <a:headEnd len="sm" w="sm" type="none"/>
                      <a:tailEnd len="sm" w="sm" type="none"/>
                    </a:lnT>
                    <a:lnB cap="flat" cmpd="sng" w="9525">
                      <a:solidFill>
                        <a:srgbClr val="DCE3E8"/>
                      </a:solidFill>
                      <a:prstDash val="solid"/>
                      <a:round/>
                      <a:headEnd len="sm" w="sm" type="none"/>
                      <a:tailEnd len="sm" w="sm" type="none"/>
                    </a:lnB>
                    <a:solidFill>
                      <a:srgbClr val="FFFFFF"/>
                    </a:solidFill>
                  </a:tcPr>
                </a:tc>
              </a:tr>
            </a:tbl>
          </a:graphicData>
        </a:graphic>
      </p:graphicFrame>
      <p:sp>
        <p:nvSpPr>
          <p:cNvPr id="335" name="Google Shape;335;p21"/>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2"/>
          <p:cNvSpPr txBox="1"/>
          <p:nvPr>
            <p:ph type="title"/>
          </p:nvPr>
        </p:nvSpPr>
        <p:spPr>
          <a:xfrm>
            <a:off x="548640" y="640080"/>
            <a:ext cx="1024128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400"/>
              <a:buFont typeface="Cambria"/>
              <a:buNone/>
            </a:pPr>
            <a:r>
              <a:rPr b="1" lang="en-US" sz="2400">
                <a:solidFill>
                  <a:schemeClr val="dk2"/>
                </a:solidFill>
                <a:latin typeface="Cambria"/>
                <a:ea typeface="Cambria"/>
                <a:cs typeface="Cambria"/>
                <a:sym typeface="Cambria"/>
              </a:rPr>
              <a:t>Who should own which class</a:t>
            </a:r>
            <a:endParaRPr sz="2400"/>
          </a:p>
        </p:txBody>
      </p:sp>
      <p:sp>
        <p:nvSpPr>
          <p:cNvPr id="342" name="Google Shape;342;p22"/>
          <p:cNvSpPr/>
          <p:nvPr/>
        </p:nvSpPr>
        <p:spPr>
          <a:xfrm>
            <a:off x="548640" y="1554480"/>
            <a:ext cx="6949440" cy="896112"/>
          </a:xfrm>
          <a:prstGeom prst="roundRect">
            <a:avLst>
              <a:gd fmla="val 816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2"/>
          <p:cNvSpPr/>
          <p:nvPr/>
        </p:nvSpPr>
        <p:spPr>
          <a:xfrm>
            <a:off x="548640" y="1554480"/>
            <a:ext cx="109728" cy="896112"/>
          </a:xfrm>
          <a:prstGeom prst="rect">
            <a:avLst/>
          </a:prstGeom>
          <a:solidFill>
            <a:srgbClr val="1F6F8B"/>
          </a:solidFill>
          <a:ln cap="flat" cmpd="sng" w="12700">
            <a:solidFill>
              <a:srgbClr val="1F6F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2"/>
          <p:cNvSpPr txBox="1"/>
          <p:nvPr/>
        </p:nvSpPr>
        <p:spPr>
          <a:xfrm>
            <a:off x="822960" y="1554480"/>
            <a:ext cx="182880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A-1</a:t>
            </a:r>
            <a:endParaRPr b="0" i="0" sz="1800" u="none" cap="none" strike="noStrike">
              <a:solidFill>
                <a:schemeClr val="dk1"/>
              </a:solidFill>
              <a:latin typeface="Calibri"/>
              <a:ea typeface="Calibri"/>
              <a:cs typeface="Calibri"/>
              <a:sym typeface="Calibri"/>
            </a:endParaRPr>
          </a:p>
        </p:txBody>
      </p:sp>
      <p:sp>
        <p:nvSpPr>
          <p:cNvPr id="345" name="Google Shape;345;p22"/>
          <p:cNvSpPr txBox="1"/>
          <p:nvPr/>
        </p:nvSpPr>
        <p:spPr>
          <a:xfrm>
            <a:off x="2697480" y="1554480"/>
            <a:ext cx="466344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8B"/>
              </a:buClr>
              <a:buSzPts val="1300"/>
              <a:buFont typeface="Calibri"/>
              <a:buNone/>
            </a:pPr>
            <a:r>
              <a:rPr b="1" i="0" lang="en-US" sz="1300" u="none" cap="none" strike="noStrike">
                <a:solidFill>
                  <a:srgbClr val="1F6F8B"/>
                </a:solidFill>
                <a:latin typeface="Calibri"/>
                <a:ea typeface="Calibri"/>
                <a:cs typeface="Calibri"/>
                <a:sym typeface="Calibri"/>
              </a:rPr>
              <a:t>1.40-year life in every scenario, 85 bp</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Banks and money-market-style buyers who want a SOFR floater with little extension</a:t>
            </a:r>
            <a:endParaRPr b="0" i="0" sz="1300" u="none" cap="none" strike="noStrike">
              <a:solidFill>
                <a:schemeClr val="dk1"/>
              </a:solidFill>
              <a:latin typeface="Calibri"/>
              <a:ea typeface="Calibri"/>
              <a:cs typeface="Calibri"/>
              <a:sym typeface="Calibri"/>
            </a:endParaRPr>
          </a:p>
        </p:txBody>
      </p:sp>
      <p:sp>
        <p:nvSpPr>
          <p:cNvPr id="346" name="Google Shape;346;p22"/>
          <p:cNvSpPr/>
          <p:nvPr/>
        </p:nvSpPr>
        <p:spPr>
          <a:xfrm>
            <a:off x="548640" y="2578608"/>
            <a:ext cx="6949440" cy="896112"/>
          </a:xfrm>
          <a:prstGeom prst="roundRect">
            <a:avLst>
              <a:gd fmla="val 816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2"/>
          <p:cNvSpPr/>
          <p:nvPr/>
        </p:nvSpPr>
        <p:spPr>
          <a:xfrm>
            <a:off x="548640" y="2578608"/>
            <a:ext cx="109728" cy="896112"/>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2"/>
          <p:cNvSpPr txBox="1"/>
          <p:nvPr/>
        </p:nvSpPr>
        <p:spPr>
          <a:xfrm>
            <a:off x="822960" y="2578608"/>
            <a:ext cx="182880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M-1</a:t>
            </a:r>
            <a:endParaRPr b="0" i="0" sz="1800" u="none" cap="none" strike="noStrike">
              <a:solidFill>
                <a:schemeClr val="dk1"/>
              </a:solidFill>
              <a:latin typeface="Calibri"/>
              <a:ea typeface="Calibri"/>
              <a:cs typeface="Calibri"/>
              <a:sym typeface="Calibri"/>
            </a:endParaRPr>
          </a:p>
        </p:txBody>
      </p:sp>
      <p:sp>
        <p:nvSpPr>
          <p:cNvPr id="349" name="Google Shape;349;p22"/>
          <p:cNvSpPr txBox="1"/>
          <p:nvPr/>
        </p:nvSpPr>
        <p:spPr>
          <a:xfrm>
            <a:off x="2697480" y="2578608"/>
            <a:ext cx="466344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8B"/>
              </a:buClr>
              <a:buSzPts val="1300"/>
              <a:buFont typeface="Calibri"/>
              <a:buNone/>
            </a:pPr>
            <a:r>
              <a:rPr b="1" i="0" lang="en-US" sz="1300" u="none" cap="none" strike="noStrike">
                <a:solidFill>
                  <a:srgbClr val="1F6F8B"/>
                </a:solidFill>
                <a:latin typeface="Calibri"/>
                <a:ea typeface="Calibri"/>
                <a:cs typeface="Calibri"/>
                <a:sym typeface="Calibri"/>
              </a:rPr>
              <a:t>1.2 years, up to 1.9 in moderate; 100 bp</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Insurers and asset managers who want extra spread with no projected loss</a:t>
            </a:r>
            <a:endParaRPr b="0" i="0" sz="1300" u="none" cap="none" strike="noStrike">
              <a:solidFill>
                <a:schemeClr val="dk1"/>
              </a:solidFill>
              <a:latin typeface="Calibri"/>
              <a:ea typeface="Calibri"/>
              <a:cs typeface="Calibri"/>
              <a:sym typeface="Calibri"/>
            </a:endParaRPr>
          </a:p>
        </p:txBody>
      </p:sp>
      <p:sp>
        <p:nvSpPr>
          <p:cNvPr id="350" name="Google Shape;350;p22"/>
          <p:cNvSpPr/>
          <p:nvPr/>
        </p:nvSpPr>
        <p:spPr>
          <a:xfrm>
            <a:off x="548640" y="3602736"/>
            <a:ext cx="6949440" cy="896112"/>
          </a:xfrm>
          <a:prstGeom prst="roundRect">
            <a:avLst>
              <a:gd fmla="val 8163"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2"/>
          <p:cNvSpPr/>
          <p:nvPr/>
        </p:nvSpPr>
        <p:spPr>
          <a:xfrm>
            <a:off x="548640" y="3602736"/>
            <a:ext cx="109728" cy="896112"/>
          </a:xfrm>
          <a:prstGeom prst="rect">
            <a:avLst/>
          </a:prstGeom>
          <a:solidFill>
            <a:srgbClr val="D9922E"/>
          </a:solidFill>
          <a:ln cap="flat" cmpd="sng" w="12700">
            <a:solidFill>
              <a:srgbClr val="D992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2"/>
          <p:cNvSpPr txBox="1"/>
          <p:nvPr/>
        </p:nvSpPr>
        <p:spPr>
          <a:xfrm>
            <a:off x="822960" y="3602736"/>
            <a:ext cx="182880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M-2A / M-2B</a:t>
            </a:r>
            <a:endParaRPr b="0" i="0" sz="1800" u="none" cap="none" strike="noStrike">
              <a:solidFill>
                <a:schemeClr val="dk1"/>
              </a:solidFill>
              <a:latin typeface="Calibri"/>
              <a:ea typeface="Calibri"/>
              <a:cs typeface="Calibri"/>
              <a:sym typeface="Calibri"/>
            </a:endParaRPr>
          </a:p>
        </p:txBody>
      </p:sp>
      <p:sp>
        <p:nvSpPr>
          <p:cNvPr id="353" name="Google Shape;353;p22"/>
          <p:cNvSpPr txBox="1"/>
          <p:nvPr/>
        </p:nvSpPr>
        <p:spPr>
          <a:xfrm>
            <a:off x="2697480" y="3602736"/>
            <a:ext cx="4663440" cy="8961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8B"/>
              </a:buClr>
              <a:buSzPts val="1300"/>
              <a:buFont typeface="Calibri"/>
              <a:buNone/>
            </a:pPr>
            <a:r>
              <a:rPr b="1" i="0" lang="en-US" sz="1300" u="none" cap="none" strike="noStrike">
                <a:solidFill>
                  <a:srgbClr val="1F6F8B"/>
                </a:solidFill>
                <a:latin typeface="Calibri"/>
                <a:ea typeface="Calibri"/>
                <a:cs typeface="Calibri"/>
                <a:sym typeface="Calibri"/>
              </a:rPr>
              <a:t>2.4–2.8 years, up to 3.8; 141–157 bp at the ask</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rPr b="0" i="0" lang="en-US" sz="1300" u="none" cap="none" strike="noStrike">
                <a:solidFill>
                  <a:schemeClr val="dk1"/>
                </a:solidFill>
                <a:latin typeface="Calibri"/>
                <a:ea typeface="Calibri"/>
                <a:cs typeface="Calibri"/>
                <a:sym typeface="Calibri"/>
              </a:rPr>
              <a:t>Total-return credit funds and hedge funds that can hold through slower paydown</a:t>
            </a:r>
            <a:endParaRPr b="0" i="0" sz="1300" u="none" cap="none" strike="noStrike">
              <a:solidFill>
                <a:schemeClr val="dk1"/>
              </a:solidFill>
              <a:latin typeface="Calibri"/>
              <a:ea typeface="Calibri"/>
              <a:cs typeface="Calibri"/>
              <a:sym typeface="Calibri"/>
            </a:endParaRPr>
          </a:p>
        </p:txBody>
      </p:sp>
      <p:sp>
        <p:nvSpPr>
          <p:cNvPr id="354" name="Google Shape;354;p22"/>
          <p:cNvSpPr txBox="1"/>
          <p:nvPr/>
        </p:nvSpPr>
        <p:spPr>
          <a:xfrm>
            <a:off x="548640" y="4663440"/>
            <a:ext cx="6949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8"/>
              </a:buClr>
              <a:buSzPts val="1200"/>
              <a:buFont typeface="Calibri"/>
              <a:buNone/>
            </a:pPr>
            <a:r>
              <a:rPr b="0" i="0" lang="en-US" sz="1200" u="none" cap="none" strike="noStrike">
                <a:solidFill>
                  <a:srgbClr val="5A6B78"/>
                </a:solidFill>
                <a:latin typeface="Calibri"/>
                <a:ea typeface="Calibri"/>
                <a:cs typeface="Calibri"/>
                <a:sym typeface="Calibri"/>
              </a:rPr>
              <a:t>All three classes: no projected loss. Investors also take Freddie Mac counterparty risk on the monthly spread.</a:t>
            </a:r>
            <a:endParaRPr b="0" i="0" sz="1200" u="none" cap="none" strike="noStrike">
              <a:solidFill>
                <a:schemeClr val="dk1"/>
              </a:solidFill>
              <a:latin typeface="Calibri"/>
              <a:ea typeface="Calibri"/>
              <a:cs typeface="Calibri"/>
              <a:sym typeface="Calibri"/>
            </a:endParaRPr>
          </a:p>
        </p:txBody>
      </p:sp>
      <p:sp>
        <p:nvSpPr>
          <p:cNvPr id="355" name="Google Shape;355;p22"/>
          <p:cNvSpPr/>
          <p:nvPr/>
        </p:nvSpPr>
        <p:spPr>
          <a:xfrm>
            <a:off x="7772400" y="1554480"/>
            <a:ext cx="3840480" cy="4617720"/>
          </a:xfrm>
          <a:prstGeom prst="roundRect">
            <a:avLst>
              <a:gd fmla="val 1905" name="adj"/>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
          <p:cNvSpPr txBox="1"/>
          <p:nvPr/>
        </p:nvSpPr>
        <p:spPr>
          <a:xfrm>
            <a:off x="8001000" y="1691640"/>
            <a:ext cx="3383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mbria"/>
              <a:buNone/>
            </a:pPr>
            <a:r>
              <a:rPr b="1" i="0" lang="en-US" sz="1600" u="none" cap="none" strike="noStrike">
                <a:solidFill>
                  <a:schemeClr val="dk2"/>
                </a:solidFill>
                <a:latin typeface="Cambria"/>
                <a:ea typeface="Cambria"/>
                <a:cs typeface="Cambria"/>
                <a:sym typeface="Cambria"/>
              </a:rPr>
              <a:t>Limitations</a:t>
            </a:r>
            <a:endParaRPr b="0" i="0" sz="1600" u="none" cap="none" strike="noStrike">
              <a:solidFill>
                <a:schemeClr val="dk1"/>
              </a:solidFill>
              <a:latin typeface="Calibri"/>
              <a:ea typeface="Calibri"/>
              <a:cs typeface="Calibri"/>
              <a:sym typeface="Calibri"/>
            </a:endParaRPr>
          </a:p>
        </p:txBody>
      </p:sp>
      <p:sp>
        <p:nvSpPr>
          <p:cNvPr id="357" name="Google Shape;357;p22"/>
          <p:cNvSpPr txBox="1"/>
          <p:nvPr/>
        </p:nvSpPr>
        <p:spPr>
          <a:xfrm>
            <a:off x="8001000" y="2148840"/>
            <a:ext cx="3383280" cy="39319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Starting delinquent loans liquidate on one date, which exaggerates the month-9 trigger failure</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No cures; national, not regional, house prices</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One Bloomberg snapshot (Oct 2, 2026), no price history</a:t>
            </a:r>
            <a:endParaRPr b="0" i="0" sz="1300" u="none" cap="none" strike="noStrike">
              <a:solidFill>
                <a:schemeClr val="dk1"/>
              </a:solidFill>
              <a:latin typeface="Calibri"/>
              <a:ea typeface="Calibri"/>
              <a:cs typeface="Calibri"/>
              <a:sym typeface="Calibri"/>
            </a:endParaRPr>
          </a:p>
          <a:p>
            <a:pPr indent="-177800" lvl="0" marL="177800" marR="0" rtl="0" algn="l">
              <a:spcBef>
                <a:spcPts val="80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Assumes the February 2031 call is exercised</a:t>
            </a:r>
            <a:endParaRPr b="0" i="0" sz="1300" u="none" cap="none" strike="noStrike">
              <a:solidFill>
                <a:schemeClr val="dk1"/>
              </a:solidFill>
              <a:latin typeface="Calibri"/>
              <a:ea typeface="Calibri"/>
              <a:cs typeface="Calibri"/>
              <a:sym typeface="Calibri"/>
            </a:endParaRPr>
          </a:p>
        </p:txBody>
      </p:sp>
      <p:sp>
        <p:nvSpPr>
          <p:cNvPr id="358" name="Google Shape;358;p22"/>
          <p:cNvSpPr/>
          <p:nvPr/>
        </p:nvSpPr>
        <p:spPr>
          <a:xfrm>
            <a:off x="548640" y="5257800"/>
            <a:ext cx="6949440" cy="914400"/>
          </a:xfrm>
          <a:prstGeom prst="roundRect">
            <a:avLst>
              <a:gd fmla="val 8000"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txBox="1"/>
          <p:nvPr/>
        </p:nvSpPr>
        <p:spPr>
          <a:xfrm>
            <a:off x="777240" y="5257800"/>
            <a:ext cx="65836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3B448"/>
              </a:buClr>
              <a:buSzPts val="1500"/>
              <a:buFont typeface="Calibri"/>
              <a:buNone/>
            </a:pPr>
            <a:r>
              <a:rPr b="1" i="0" lang="en-US" sz="1500" u="none" cap="none" strike="noStrike">
                <a:solidFill>
                  <a:srgbClr val="E3B448"/>
                </a:solidFill>
                <a:latin typeface="Calibri"/>
                <a:ea typeface="Calibri"/>
                <a:cs typeface="Calibri"/>
                <a:sym typeface="Calibri"/>
              </a:rPr>
              <a:t>Thank you. Questions?  </a:t>
            </a:r>
            <a:r>
              <a:rPr b="0" i="0" lang="en-US" sz="1100" u="none" cap="none" strike="noStrike">
                <a:solidFill>
                  <a:srgbClr val="FFFFFF"/>
                </a:solidFill>
                <a:latin typeface="Calibri"/>
                <a:ea typeface="Calibri"/>
                <a:cs typeface="Calibri"/>
                <a:sym typeface="Calibri"/>
              </a:rPr>
              <a:t>Code and results: github.com/rezazamani2329/Asset-Backed-Security-Market--UC-Berkeley-MFE-program</a:t>
            </a:r>
            <a:endParaRPr b="0" i="0" sz="1500" u="none" cap="none" strike="noStrike">
              <a:solidFill>
                <a:schemeClr val="dk1"/>
              </a:solidFill>
              <a:latin typeface="Calibri"/>
              <a:ea typeface="Calibri"/>
              <a:cs typeface="Calibri"/>
              <a:sym typeface="Calibri"/>
            </a:endParaRPr>
          </a:p>
        </p:txBody>
      </p:sp>
      <p:sp>
        <p:nvSpPr>
          <p:cNvPr id="360" name="Google Shape;360;p22"/>
          <p:cNvSpPr txBox="1"/>
          <p:nvPr>
            <p:ph idx="4294967295" type="sldNum"/>
          </p:nvPr>
        </p:nvSpPr>
        <p:spPr>
          <a:xfrm>
            <a:off x="11183112" y="6419088"/>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ACR Collateral">
  <a:themeElements>
    <a:clrScheme name="STACR Collateral">
      <a:dk1>
        <a:srgbClr val="1B2A34"/>
      </a:dk1>
      <a:lt1>
        <a:srgbClr val="FFFFFF"/>
      </a:lt1>
      <a:dk2>
        <a:srgbClr val="14374A"/>
      </a:dk2>
      <a:lt2>
        <a:srgbClr val="EEF3F5"/>
      </a:lt2>
      <a:accent1>
        <a:srgbClr val="1F6F8B"/>
      </a:accent1>
      <a:accent2>
        <a:srgbClr val="2E8B57"/>
      </a:accent2>
      <a:accent3>
        <a:srgbClr val="D9922E"/>
      </a:accent3>
      <a:accent4>
        <a:srgbClr val="B23A3A"/>
      </a:accent4>
      <a:accent5>
        <a:srgbClr val="7A8C99"/>
      </a:accent5>
      <a:accent6>
        <a:srgbClr val="E3B448"/>
      </a:accent6>
      <a:hlink>
        <a:srgbClr val="1F6F8B"/>
      </a:hlink>
      <a:folHlink>
        <a:srgbClr val="5A6B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CR Collateral">
  <a:themeElements>
    <a:clrScheme name="STACR Collateral">
      <a:dk1>
        <a:srgbClr val="1B2A34"/>
      </a:dk1>
      <a:lt1>
        <a:srgbClr val="FFFFFF"/>
      </a:lt1>
      <a:dk2>
        <a:srgbClr val="14374A"/>
      </a:dk2>
      <a:lt2>
        <a:srgbClr val="EEF3F5"/>
      </a:lt2>
      <a:accent1>
        <a:srgbClr val="1F6F8B"/>
      </a:accent1>
      <a:accent2>
        <a:srgbClr val="2E8B57"/>
      </a:accent2>
      <a:accent3>
        <a:srgbClr val="D9922E"/>
      </a:accent3>
      <a:accent4>
        <a:srgbClr val="B23A3A"/>
      </a:accent4>
      <a:accent5>
        <a:srgbClr val="7A8C99"/>
      </a:accent5>
      <a:accent6>
        <a:srgbClr val="E3B448"/>
      </a:accent6>
      <a:hlink>
        <a:srgbClr val="1F6F8B"/>
      </a:hlink>
      <a:folHlink>
        <a:srgbClr val="5A6B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